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jpg"/><Relationship Id="rId4" Type="http://schemas.openxmlformats.org/officeDocument/2006/relationships/image" Target="../media/image38.jpg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6000" b="1">
                <a:solidFill>
                  <a:srgbClr val="FAFAF9"/>
                </a:solidFill>
                <a:latin typeface="Space Grotesk"/>
              </a:defRPr>
            </a:pPr>
            <a:r>
              <a:t>OpenAEC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A1A1AA"/>
                </a:solidFill>
                <a:latin typeface="Space Grotesk"/>
              </a:defRPr>
            </a:pPr>
            <a:r>
              <a:t>Build free. Build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38912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2525B"/>
                </a:solidFill>
                <a:latin typeface="JetBrains Mono"/>
              </a:defRPr>
            </a:pPr>
            <a:r>
              <a:t>Computational Design Day — Delft,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3BM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(Structural)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Architectural and engineering firm. The practice where it all started.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3bm.co.nl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Domera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Floating Home builders &amp; developers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Floating home builders and developers.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domera.nl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Impertio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Implementation &amp;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From bare PC to AI workstation. Open source ecosystem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impertio.nl</a:t>
            </a:r>
          </a:p>
        </p:txBody>
      </p:sp>
      <p:pic>
        <p:nvPicPr>
          <p:cNvPr id="10" name="Picture 9" descr="impertio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OpenCompany246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Fully open source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246 business processes covered with open source 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opencompany246.nl</a:t>
            </a:r>
          </a:p>
        </p:txBody>
      </p:sp>
      <p:pic>
        <p:nvPicPr>
          <p:cNvPr id="10" name="Picture 9" descr="opencompany246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01 —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AFAF9"/>
                </a:solidFill>
                <a:latin typeface="Space Grotesk"/>
              </a:defRPr>
            </a:pPr>
            <a:r>
              <a:t>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2D0A0A"/>
          </a:solidFill>
          <a:ln w="254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$$$$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License costs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74320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2D0A0A"/>
          </a:solidFill>
          <a:ln w="254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30632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Closed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3832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Vendor lock-in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74320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2D0A0A"/>
          </a:solidFill>
          <a:ln w="254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0632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Islands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3832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Fragmentation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74320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2D0A0A"/>
          </a:solidFill>
          <a:ln w="254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30632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Vendor-driven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3832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No innovation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2743200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2D0A0A"/>
          </a:solidFill>
          <a:ln w="254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30632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Not possible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338328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AI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02 —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AFAF9"/>
                </a:solidFill>
                <a:latin typeface="Space Grotesk"/>
              </a:defRPr>
            </a:pPr>
            <a:r>
              <a:t>The OpenAEC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D97706"/>
                </a:solidFill>
                <a:latin typeface="Inter"/>
              </a:defRPr>
            </a:pPr>
            <a:r>
              <a:t>Open source software for the entire construction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D4D4D8"/>
                </a:solidFill>
                <a:latin typeface="Inter"/>
              </a:defRPr>
            </a:pPr>
            <a:r>
              <a:t>Founded March 1, 2026 — Dordrecht, NL — Inspired by the Blender 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5120640" cy="731520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97706"/>
                </a:solidFill>
                <a:latin typeface="Space Grotesk"/>
              </a:defRPr>
            </a:pPr>
            <a:r>
              <a:t>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Coordinate and fund open source software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200400"/>
            <a:ext cx="5120640" cy="731520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200400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97706"/>
                </a:solidFill>
                <a:latin typeface="Space Grotesk"/>
              </a:defRPr>
            </a:pPr>
            <a:r>
              <a:t>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6616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Licenses, API connections and integrations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06240"/>
            <a:ext cx="5120640" cy="731520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97706"/>
                </a:solidFill>
                <a:latin typeface="Space Grotesk"/>
              </a:defRPr>
            </a:pPr>
            <a:r>
              <a:t>Education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Internship and training opportunities worldwide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206240"/>
            <a:ext cx="5120640" cy="731520"/>
          </a:xfrm>
          <a:prstGeom prst="rect">
            <a:avLst/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206240"/>
            <a:ext cx="54864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2976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D97706"/>
                </a:solidFill>
                <a:latin typeface="Space Grotesk"/>
              </a:defRPr>
            </a:pPr>
            <a:r>
              <a:t>Advocacy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720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Promote open source and open standards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03 —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AFAF9"/>
                </a:solidFill>
                <a:latin typeface="Space Grotesk"/>
              </a:defRPr>
            </a:pPr>
            <a:r>
              <a:t>The open source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645920" cy="68580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A2A32"/>
                </a:solidFill>
                <a:latin typeface="Space Grotesk"/>
              </a:defRPr>
            </a:pPr>
            <a:r>
              <a:t>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828800"/>
            <a:ext cx="7498080" cy="685800"/>
          </a:xfrm>
          <a:prstGeom prst="roundRect">
            <a:avLst>
              <a:gd name="adj" fmla="val 15000"/>
            </a:avLst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993392"/>
            <a:ext cx="7132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AFAF9"/>
                </a:solidFill>
                <a:latin typeface="Inter"/>
              </a:defRPr>
            </a:pPr>
            <a:r>
              <a:t>Blender + Bonsai     FreeCAD     Open 2D Studio     building.py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645920" cy="68580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6207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A2A32"/>
                </a:solidFill>
                <a:latin typeface="Space Grotesk"/>
              </a:defRPr>
            </a:pPr>
            <a:r>
              <a:t>Collaboration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2697480"/>
            <a:ext cx="7498080" cy="685800"/>
          </a:xfrm>
          <a:prstGeom prst="roundRect">
            <a:avLst>
              <a:gd name="adj" fmla="val 15000"/>
            </a:avLst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2862072"/>
            <a:ext cx="7132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AFAF9"/>
                </a:solidFill>
                <a:latin typeface="Inter"/>
              </a:defRPr>
            </a:pPr>
            <a:r>
              <a:t>Nextcloud     OpenAEC Docs     IfcGit     Speckle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1645920" cy="68580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3075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A2A32"/>
                </a:solidFill>
                <a:latin typeface="Space Grotesk"/>
              </a:defRPr>
            </a:pPr>
            <a:r>
              <a:t>Engineering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3566160"/>
            <a:ext cx="7498080" cy="685800"/>
          </a:xfrm>
          <a:prstGeom prst="roundRect">
            <a:avLst>
              <a:gd name="adj" fmla="val 15000"/>
            </a:avLst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3730752"/>
            <a:ext cx="7132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AFAF9"/>
                </a:solidFill>
                <a:latin typeface="Inter"/>
              </a:defRPr>
            </a:pPr>
            <a:r>
              <a:t>Energy Studio     Heatloss     Calc Studio     BIM Validator     FEM2D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645920" cy="68580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9943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A2A32"/>
                </a:solidFill>
                <a:latin typeface="Space Grotesk"/>
              </a:defRPr>
            </a:pPr>
            <a:r>
              <a:t>Business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23160" y="4434840"/>
            <a:ext cx="7498080" cy="685800"/>
          </a:xfrm>
          <a:prstGeom prst="roundRect">
            <a:avLst>
              <a:gd name="adj" fmla="val 15000"/>
            </a:avLst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4599432"/>
            <a:ext cx="7132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AFAF9"/>
                </a:solidFill>
                <a:latin typeface="Inter"/>
              </a:defRPr>
            </a:pPr>
            <a:r>
              <a:t>ERPNext     Invoicing     HRM     Planning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1645920" cy="68580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6811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2A2A32"/>
                </a:solidFill>
                <a:latin typeface="Space Grotesk"/>
              </a:defRPr>
            </a:pPr>
            <a:r>
              <a:t>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23160" y="5303520"/>
            <a:ext cx="7498080" cy="685800"/>
          </a:xfrm>
          <a:prstGeom prst="roundRect">
            <a:avLst>
              <a:gd name="adj" fmla="val 15000"/>
            </a:avLst>
          </a:prstGeom>
          <a:solidFill>
            <a:srgbClr val="323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5468112"/>
            <a:ext cx="7132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AFAF9"/>
                </a:solidFill>
                <a:latin typeface="Inter"/>
              </a:defRPr>
            </a:pPr>
            <a:r>
              <a:t>Claude / LLM's     MCP Servers     Open Agents     Speech Studio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04 —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AFAF9"/>
                </a:solidFill>
                <a:latin typeface="Space Grotesk"/>
              </a:defRPr>
            </a:pPr>
            <a:r>
              <a:t>OpenCompany246 &amp; Impertio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108960" cy="128016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OpenCompany246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246 business processes covered with open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2918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D9770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926080"/>
            <a:ext cx="3108960" cy="128016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306324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How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2461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Impertio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5661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Implementation, deployment &amp;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29184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D9770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926080"/>
            <a:ext cx="3108960" cy="128016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063240"/>
            <a:ext cx="3108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A1A1AA"/>
                </a:solidFill>
                <a:latin typeface="JetBrains Mono"/>
              </a:defRPr>
            </a:pPr>
            <a:r>
              <a:t>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4612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OpenAEC Foundation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56616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Development &amp; maintenance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05 — 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ERPNext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Open source ERP for 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Project management · Invoicing &amp; accounting · HRM — NL payroll · Dashboard App · Level Dashboard</a:t>
            </a:r>
          </a:p>
        </p:txBody>
      </p:sp>
      <p:pic>
        <p:nvPicPr>
          <p:cNvPr id="9" name="Picture 8" descr="WhatsApp Image 2026-03-03 at 20.00.1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06 — BIM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AFAF9"/>
                </a:solidFill>
                <a:latin typeface="Space Grotesk"/>
              </a:defRPr>
            </a:pPr>
            <a:r>
              <a:t>Blender &amp; Bonsai — Open BIM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Blender + Bonsai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IFC authoring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building.py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Code-based buildings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Sverchok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Visual programming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Claude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AI-assisted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07 —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AFAF9"/>
                </a:solidFill>
                <a:latin typeface="Space Grotesk"/>
              </a:defRPr>
            </a:pPr>
            <a:r>
              <a:t>Nextcloud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File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Version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IfcGit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IFC versioning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Check-in/out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Vault-like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743200"/>
            <a:ext cx="2377440" cy="100584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306324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AFAF9"/>
                </a:solidFill>
                <a:latin typeface="Space Grotesk"/>
              </a:defRPr>
            </a:pPr>
            <a:r>
              <a:t>Claude 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383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A1A1AA"/>
                </a:solidFill>
                <a:latin typeface="Inter"/>
              </a:defRPr>
            </a:pPr>
            <a:r>
              <a:t>AI in Talk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08 —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AFAF9"/>
                </a:solidFill>
                <a:latin typeface="Space Grotesk"/>
              </a:defRPr>
            </a:pPr>
            <a:r>
              <a:t>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D97706"/>
                </a:solidFill>
                <a:latin typeface="Space Grotesk"/>
              </a:defRPr>
            </a:pPr>
            <a: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1A1AA"/>
                </a:solidFill>
                <a:latin typeface="Inter"/>
              </a:defRPr>
            </a:pPr>
            <a:r>
              <a:t>Repositories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8288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D97706"/>
                </a:solidFill>
                <a:latin typeface="Space Grotesk"/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377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1A1AA"/>
                </a:solidFill>
                <a:latin typeface="Inter"/>
              </a:defRPr>
            </a:pPr>
            <a:r>
              <a:t>Public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8288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D97706"/>
                </a:solidFill>
                <a:latin typeface="Space Grotesk"/>
              </a:defRPr>
            </a:pPr>
            <a:r>
              <a:t>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377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1A1AA"/>
                </a:solidFill>
                <a:latin typeface="Inter"/>
              </a:defRPr>
            </a:pPr>
            <a:r>
              <a:t>Releases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288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D97706"/>
                </a:solidFill>
                <a:latin typeface="Space Grotesk"/>
              </a:defRPr>
            </a:pPr>
            <a:r>
              <a:t>764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77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1A1AA"/>
                </a:solidFill>
                <a:latin typeface="Inter"/>
              </a:defRPr>
            </a:pPr>
            <a:r>
              <a:t>Commits (building.py)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828800"/>
            <a:ext cx="1828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D97706"/>
                </a:solidFill>
                <a:latin typeface="Space Grotesk"/>
              </a:defRPr>
            </a:pPr>
            <a:r>
              <a:t>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377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A1A1AA"/>
                </a:solidFill>
                <a:latin typeface="Inter"/>
              </a:defRPr>
            </a:pPr>
            <a:r>
              <a:t>Repos in 3 months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310896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Inter"/>
                        </a:defRPr>
                      </a:pPr>
                      <a:r>
                        <a:t>Top releases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Inter"/>
                        </a:defRPr>
                      </a:pPr>
                      <a:r>
                        <a:t>Rel.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Inter"/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open-pdf-studio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v1.23.0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open-2d-studio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v0.32.0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monty-ifc-viewer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v1.0.1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open-pointcloud-studio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v0.3.0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open-energy-studio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v2026.2.0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17920" y="310896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Inter"/>
                        </a:defRPr>
                      </a:pPr>
                      <a:r>
                        <a:t>Top commits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59E0B"/>
                          </a:solidFill>
                          <a:latin typeface="Inter"/>
                        </a:defRPr>
                      </a:pPr>
                      <a:r>
                        <a:t>Commits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building-py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764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project-ocondat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152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openaec-reports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131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open-books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109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4D4D8"/>
                          </a:solidFill>
                          <a:latin typeface="Inter"/>
                        </a:defRPr>
                      </a:pPr>
                      <a:r>
                        <a:t>dynlex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A1A1AA"/>
                          </a:solidFill>
                          <a:latin typeface="Inter"/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2A2A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22 RELEASES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2D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2D viewer and drawing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View, annotate and edit 2D drawings. Extension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66 commits  ·  v0.32.0  ·  TypeScript</a:t>
            </a:r>
          </a:p>
        </p:txBody>
      </p:sp>
      <p:pic>
        <p:nvPicPr>
          <p:cNvPr id="10" name="Picture 9" descr="WhatsApp Image 2026-02-19 at 20.03.4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2D Studio AEC Extension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AEC functionality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Construction symbols, layers and annotations.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7 commits  ·  v0.1.0</a:t>
            </a:r>
          </a:p>
        </p:txBody>
      </p:sp>
      <p:pic>
        <p:nvPicPr>
          <p:cNvPr id="10" name="Picture 9" descr="WhatsApp Image 2026-02-14 at 22.50.3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WhatsApp Image 2026-02-20 at 10.19.4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24 RELEASES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PDF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PDF document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View, combine and edit PDFs for construction.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90 commits  ·  v1.23.0</a:t>
            </a:r>
          </a:p>
        </p:txBody>
      </p:sp>
      <p:pic>
        <p:nvPicPr>
          <p:cNvPr id="10" name="Picture 9" descr="WhatsApp Image 2026-02-25 at 19.04.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WhatsApp Image 2026-02-28 at 13.59.5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2 RELEASES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Monty IFC 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Lightweight IFC 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Web-based BIM viewer with Three.js.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11 commits  ·  v1.0.1</a:t>
            </a:r>
          </a:p>
        </p:txBody>
      </p:sp>
      <p:pic>
        <p:nvPicPr>
          <p:cNvPr id="10" name="Picture 9" descr="176859403781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2 RELEASES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Pointcloud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Point clouds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View and edit point clouds.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12 commits  ·  v0.3.0</a:t>
            </a:r>
          </a:p>
        </p:txBody>
      </p:sp>
      <p:pic>
        <p:nvPicPr>
          <p:cNvPr id="10" name="Picture 9" descr="WhatsApp Image 2026-02-26 at 16.10.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ALPHA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3D 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3D viewer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Universal 3D viewer in the browser.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7 commits  ·  v0.1.0-alpha</a:t>
            </a:r>
          </a:p>
        </p:txBody>
      </p:sp>
      <p:pic>
        <p:nvPicPr>
          <p:cNvPr id="10" name="Picture 9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WhatsApp Image 2026-03-03 at 23.03.0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1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Energy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Energy performance NTA 8800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Desktop app with Tauri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11 commits  ·  v2026.2.0</a:t>
            </a:r>
          </a:p>
        </p:txBody>
      </p:sp>
      <p:pic>
        <p:nvPicPr>
          <p:cNvPr id="10" name="Picture 9" descr="WhatsApp Image 2026-02-17 at 23.07.1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WhatsApp Image 2026-02-17 at 23.07.2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1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Planner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Project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Gantt charts with Tauri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10 commits  ·  v2026.2.0</a:t>
            </a:r>
          </a:p>
        </p:txBody>
      </p:sp>
      <p:pic>
        <p:nvPicPr>
          <p:cNvPr id="10" name="Picture 9" descr="WhatsApp Image 2026-02-12 at 20.56.1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FEM2D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Finite Element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2D structural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13 commits  ·  TypeScript</a:t>
            </a:r>
          </a:p>
        </p:txBody>
      </p:sp>
      <p:pic>
        <p:nvPicPr>
          <p:cNvPr id="10" name="Picture 9" descr="WhatsApp Image 2026-02-07 at 15.43.0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Structural Engineer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Structural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Tool for the structural engineer.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 commit</a:t>
            </a:r>
          </a:p>
        </p:txBody>
      </p:sp>
      <p:pic>
        <p:nvPicPr>
          <p:cNvPr id="10" name="Picture 9" descr="WhatsApp Image 2026-03-03 at 23.26.3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MPG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Environmental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MPG calculation for building permits.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2 commits</a:t>
            </a:r>
          </a:p>
        </p:txBody>
      </p:sp>
      <p:pic>
        <p:nvPicPr>
          <p:cNvPr id="10" name="Picture 9" descr="WhatsApp Image 2026-03-02 at 22.04.2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WhatsApp Image 2026-03-02 at 22.04.2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Calc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Calculation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Calculation tool for construction.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New project</a:t>
            </a:r>
          </a:p>
        </p:txBody>
      </p:sp>
      <p:pic>
        <p:nvPicPr>
          <p:cNvPr id="10" name="Picture 9" descr="176986547820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176986547848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Heat loss calculation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ISSO 51:2023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Rust calculation library.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21 commits  ·  Rust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U-value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U-value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Wall, roof and floor constructions.</a:t>
            </a:r>
          </a:p>
        </p:txBody>
      </p:sp>
      <p:pic>
        <p:nvPicPr>
          <p:cNvPr id="9" name="Picture 8" descr="176859403725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98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Dynlex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C++ calculation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High-performance calculation tool.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98 commits  ·  C++</a:t>
            </a:r>
          </a:p>
        </p:txBody>
      </p:sp>
      <p:pic>
        <p:nvPicPr>
          <p:cNvPr id="10" name="Picture 9" descr="WhatsApp Image 2026-02-17 at 19.54.5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Ifc-Calc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Graphical calculator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Calculations linked to IFC models.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3 commits</a:t>
            </a:r>
          </a:p>
        </p:txBody>
      </p:sp>
      <p:pic>
        <p:nvPicPr>
          <p:cNvPr id="10" name="Picture 9" descr="WhatsApp Image 2026-02-17 at 19.58.0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CPT 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Geotechnical soundings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GEF and BRO-xml viewer.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JavaScript</a:t>
            </a:r>
          </a:p>
        </p:txBody>
      </p:sp>
      <p:pic>
        <p:nvPicPr>
          <p:cNvPr id="10" name="Picture 9" descr="WhatsApp Image 2026-02-12 at 21.34.4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Cutlist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Cut plan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1D and 2D materials.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JavaScript</a:t>
            </a:r>
          </a:p>
        </p:txBody>
      </p:sp>
      <p:pic>
        <p:nvPicPr>
          <p:cNvPr id="10" name="Picture 9" descr="176859403776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NEW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Bestekstool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Specifications writing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Specifications for construction projects.</a:t>
            </a:r>
          </a:p>
        </p:txBody>
      </p:sp>
      <p:pic>
        <p:nvPicPr>
          <p:cNvPr id="9" name="Picture 8" descr="WhatsApp Image 2026-02-13 at 09.31.0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764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building.py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Python building modeling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Export to Blender, Revit, IFC, DXF, Speckle.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v0.1-beta  ·  Python</a:t>
            </a:r>
          </a:p>
        </p:txBody>
      </p:sp>
      <p:pic>
        <p:nvPicPr>
          <p:cNvPr id="10" name="Picture 9" descr="176859403910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131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OpenAEC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Generate reports for construction projects.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Python</a:t>
            </a:r>
          </a:p>
        </p:txBody>
      </p:sp>
      <p:pic>
        <p:nvPicPr>
          <p:cNvPr id="10" name="Picture 9" descr="WhatsApp Image 2026-02-20 at 16.03.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WhatsApp Image 2026-02-21 at 15.21.4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109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Books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Historical construction books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Digital collection. Knowledge preservation.</a:t>
            </a:r>
          </a:p>
        </p:txBody>
      </p:sp>
      <p:pic>
        <p:nvPicPr>
          <p:cNvPr id="9" name="Picture 8" descr="176859403759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EXPERIMENT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WFC5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IFC5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Complete BIM model in one format.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TypeSpec</a:t>
            </a:r>
          </a:p>
        </p:txBody>
      </p:sp>
      <p:pic>
        <p:nvPicPr>
          <p:cNvPr id="10" name="Picture 9" descr="WhatsApp Image 2026-03-03 at 23.08.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3840480" cy="5852160"/>
          </a:xfrm>
          <a:prstGeom prst="rect">
            <a:avLst/>
          </a:prstGeom>
        </p:spPr>
      </p:pic>
      <p:pic>
        <p:nvPicPr>
          <p:cNvPr id="11" name="Picture 10" descr="WhatsApp Image 2026-03-03 at 23.22.2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02920"/>
            <a:ext cx="38404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152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Project Ocondat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Open building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WikiData linked to building information.</a:t>
            </a:r>
          </a:p>
        </p:txBody>
      </p:sp>
      <p:pic>
        <p:nvPicPr>
          <p:cNvPr id="9" name="Picture 8" descr="WhatsApp Image 2026-02-13 at 09.20.5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AI — 84 COMMITS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Multi-agent 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AI agents in parallel via CLI.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TypeScript</a:t>
            </a:r>
          </a:p>
        </p:txBody>
      </p:sp>
      <p:pic>
        <p:nvPicPr>
          <p:cNvPr id="10" name="Picture 9" descr="WhatsApp Image 2026-03-03 at 13.33.0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ERPNext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Electron desktop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Banking, invoicing, expense management.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16 commits</a:t>
            </a:r>
          </a:p>
        </p:txBody>
      </p:sp>
      <p:pic>
        <p:nvPicPr>
          <p:cNvPr id="10" name="Picture 9" descr="WhatsApp Image 2026-03-03 at 20.00.1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ERPNext Level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Alternative GUI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Departments, employees, AI bots.</a:t>
            </a:r>
          </a:p>
        </p:txBody>
      </p:sp>
      <p:pic>
        <p:nvPicPr>
          <p:cNvPr id="9" name="Picture 8" descr="176986547815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502920"/>
            <a:ext cx="2560320" cy="5852160"/>
          </a:xfrm>
          <a:prstGeom prst="rect">
            <a:avLst/>
          </a:prstGeom>
        </p:spPr>
      </p:pic>
      <p:pic>
        <p:nvPicPr>
          <p:cNvPr id="10" name="Picture 9" descr="176986547837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02920"/>
            <a:ext cx="2560320" cy="5852160"/>
          </a:xfrm>
          <a:prstGeom prst="rect">
            <a:avLst/>
          </a:prstGeom>
        </p:spPr>
      </p:pic>
      <p:pic>
        <p:nvPicPr>
          <p:cNvPr id="11" name="Picture 10" descr="1769865478664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502920"/>
            <a:ext cx="256032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Speech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Speech-to-text with local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Dictation, transcription and meeting recording. Powered by OpenAI Whisper. GPU acceleration.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v0.5.0  ·  Tauri 2 + Rust</a:t>
            </a:r>
          </a:p>
        </p:txBody>
      </p:sp>
      <p:pic>
        <p:nvPicPr>
          <p:cNvPr id="10" name="Picture 9" descr="Open Speech Studio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Field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Inspection and quality assurance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Construction site inspections. 15 NEN 2767 checklists. Energy label recording. Offline-capable.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v0.1.3  ·  Beta  ·  PWA</a:t>
            </a:r>
          </a:p>
        </p:txBody>
      </p:sp>
      <p:pic>
        <p:nvPicPr>
          <p:cNvPr id="10" name="Picture 9" descr="Open Field Studio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 Heatloss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Heat loss calculation NEN 12831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Transmission and ventilation loss calculations. IFCX coupling. Dutch building regulations.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Beta  ·  TypeScript</a:t>
            </a:r>
          </a:p>
        </p:txBody>
      </p:sp>
      <p:pic>
        <p:nvPicPr>
          <p:cNvPr id="10" name="Picture 9" descr="Open Heatloss Studio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BIM Validator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IFC validation against 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Validate IFC models against IDS specifications. NL BIM Basis ILS. RVB BIM Norm. BCF export.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Three.js  ·  TypeScript</a:t>
            </a:r>
          </a:p>
        </p:txBody>
      </p:sp>
      <p:pic>
        <p:nvPicPr>
          <p:cNvPr id="10" name="Picture 9" descr="BIM Validator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2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3716" cy="6858000"/>
          </a:xfrm>
          <a:prstGeom prst="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F59E0B"/>
                </a:solidFill>
                <a:latin typeface="JetBrains Mono"/>
              </a:defRPr>
            </a:pPr>
            <a:r>
              <a:t>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AFAF9"/>
                </a:solidFill>
                <a:latin typeface="Space Grotesk"/>
              </a:defRPr>
            </a:pPr>
            <a:r>
              <a:t>OpenAEC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D97706"/>
                </a:solidFill>
                <a:latin typeface="Space Grotesk"/>
              </a:defRPr>
            </a:pPr>
            <a:r>
              <a:t>BIM document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926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A1A1AA"/>
                </a:solidFill>
                <a:latin typeface="Inter"/>
              </a:defRPr>
            </a:pPr>
            <a:r>
              <a:t>Nextcloud-based document management. Version control. IFCX coupling. Full-text search.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1A1AA"/>
                </a:solidFill>
                <a:latin typeface="JetBrains Mono"/>
              </a:defRPr>
            </a:pPr>
            <a:r>
              <a:t>Nextcloud  ·  Docker  ·  PostgreSQL</a:t>
            </a:r>
          </a:p>
        </p:txBody>
      </p:sp>
      <p:pic>
        <p:nvPicPr>
          <p:cNvPr id="10" name="Picture 9" descr="OpenAEC Docs 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411480"/>
            <a:ext cx="7863840" cy="6035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