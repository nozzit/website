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4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0" b="1">
                <a:solidFill>
                  <a:srgbClr val="FAFAF9"/>
                </a:solidFill>
                <a:latin typeface="Space Grotesk"/>
              </a:defRPr>
            </a:pPr>
            <a:r>
              <a:t>OpenAEC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A1A1AA"/>
                </a:solidFill>
                <a:latin typeface="Space Grotesk"/>
              </a:defRPr>
            </a:pPr>
            <a:r>
              <a:t>Build free. Build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2525B"/>
                </a:solidFill>
                <a:latin typeface="JetBrains Mono"/>
              </a:defRPr>
            </a:pPr>
            <a:r>
              <a:t>Mei 2026 update — Delft,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3BM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(Structural)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Architectural and engineering firm. The practice where it all started.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3bm.co.nl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Domera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Floating Home builders &amp; developers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Floating home builders and developers.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domera.nl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Impertio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Implementation &amp;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From bare PC to AI workstation. Open source ecosystem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impertio.nl</a:t>
            </a:r>
          </a:p>
        </p:txBody>
      </p:sp>
      <p:pic>
        <p:nvPicPr>
          <p:cNvPr id="10" name="Picture 9" descr="impertio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OpenCompany246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Fully open source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246 business processes covered with open source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opencompany246.nl</a:t>
            </a:r>
          </a:p>
        </p:txBody>
      </p:sp>
      <p:pic>
        <p:nvPicPr>
          <p:cNvPr id="10" name="Picture 9" descr="opencompany246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01 —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AFAF9"/>
                </a:solidFill>
                <a:latin typeface="Space Grotesk"/>
              </a:defRPr>
            </a:pPr>
            <a: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$$$$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License costs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Closed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Vendor lock-in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Islands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Fragmentation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Vendor-driven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No innovation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Not possible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AI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02 —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AFAF9"/>
                </a:solidFill>
                <a:latin typeface="Space Grotesk"/>
              </a:defRPr>
            </a:pPr>
            <a:r>
              <a:t>The OpenAEC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97706"/>
                </a:solidFill>
                <a:latin typeface="Inter"/>
              </a:defRPr>
            </a:pPr>
            <a:r>
              <a:t>Open source software for the entire construction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4D4D8"/>
                </a:solidFill>
                <a:latin typeface="Inter"/>
              </a:defRPr>
            </a:pPr>
            <a:r>
              <a:t>Founded March 1, 2026 — Dordrecht, NL — Inspired by the Blender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5120640" cy="731520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97706"/>
                </a:solidFill>
                <a:latin typeface="Space Grotesk"/>
              </a:defRPr>
            </a:pPr>
            <a:r>
              <a:t>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Coordinate and fund open source software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00400"/>
            <a:ext cx="5120640" cy="731520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20040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97706"/>
                </a:solidFill>
                <a:latin typeface="Space Grotesk"/>
              </a:defRPr>
            </a:pPr>
            <a:r>
              <a:t>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Licenses, API connections and integrations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5120640" cy="731520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97706"/>
                </a:solidFill>
                <a:latin typeface="Space Grotesk"/>
              </a:defRPr>
            </a:pPr>
            <a:r>
              <a:t>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Internship and training opportunities worldwide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5120640" cy="731520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20624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97706"/>
                </a:solidFill>
                <a:latin typeface="Space Grotesk"/>
              </a:defRPr>
            </a:pPr>
            <a:r>
              <a:t>Advocacy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720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Promote open source and open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03 —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AFAF9"/>
                </a:solidFill>
                <a:latin typeface="Space Grotesk"/>
              </a:defRPr>
            </a:pPr>
            <a:r>
              <a:t>The open source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82880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99339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Blender + Bonsai     FreeCAD     Open 2D Studio     building.py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6207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Collaboration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69748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286207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Nextcloud     OpenAEC Docs     IfcGit     Speckle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3075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Engineering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356616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373075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Energy Studio     Heatloss     Calc Studio     BIM Validator     FEM2D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9943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Business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443484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459943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ERPNext     Invoicing     HRM     Planning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6811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530352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546811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Claude / LLM's     MCP Servers     Open Agents     Speech Studio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04 —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AFAF9"/>
                </a:solidFill>
                <a:latin typeface="Space Grotesk"/>
              </a:defRPr>
            </a:pPr>
            <a:r>
              <a:t>OpenCompany246 &amp; Impertio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OpenCompany246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246 business processes covered with open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2918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D9770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926080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06324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461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Impertio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5661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Implementation, deployment &amp;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2918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D9770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926080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06324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461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OpenAEC Foundation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661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Development &amp; maintenance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05 —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ERPNext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Open source ERP for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Project management · Invoicing &amp; accounting · HRM — NL payroll · Dashboard App · Level Dashboard</a:t>
            </a:r>
          </a:p>
        </p:txBody>
      </p:sp>
      <p:pic>
        <p:nvPicPr>
          <p:cNvPr id="9" name="Picture 8" descr="WhatsApp Image 2026-03-03 at 20.00.1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06 — BIM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AFAF9"/>
                </a:solidFill>
                <a:latin typeface="Space Grotesk"/>
              </a:defRPr>
            </a:pPr>
            <a:r>
              <a:t>Blender &amp; Bonsai — Open BIM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Blender + Bonsai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IFC authoring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building.py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Code-based buildings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Sverchok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Visual programming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Claude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AI-assisted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07 —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AFAF9"/>
                </a:solidFill>
                <a:latin typeface="Space Grotesk"/>
              </a:defRPr>
            </a:pPr>
            <a:r>
              <a:t>Nextcloud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File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Version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IfcGit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IFC versioning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Check-in/out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Vault-like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Claude 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AI in Talk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08 —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AFAF9"/>
                </a:solidFill>
                <a:latin typeface="Space Grotesk"/>
              </a:defRPr>
            </a:pPr>
            <a: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Repositories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416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4228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Total commits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5807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Total downloads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310896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Top releases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Rel.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open-pdf-studio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v1.47.3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open-2d-studio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v0.35.0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Open-Calculations-Studio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v0.1.4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open-calc-studio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v0.7.8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open-geotechniek-studio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v0.2.9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17920" y="310896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Top commits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Commits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building-py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764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open-heatloss-studio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485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open-pdf-studio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450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Open-Agents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322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openaec-reports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235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22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2D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2D viewer and drawing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View, annotate and edit 2D drawings. Extension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90 commits  ·  v0.35.0  ·  TypeScript</a:t>
            </a:r>
          </a:p>
        </p:txBody>
      </p:sp>
      <p:pic>
        <p:nvPicPr>
          <p:cNvPr id="10" name="Picture 9" descr="WhatsApp Image 2026-02-19 at 20.03.4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2D Studio AEC Extension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AEC functionality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Construction symbols, layers and annotations.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7 commits  ·  v0.1.0</a:t>
            </a:r>
          </a:p>
        </p:txBody>
      </p:sp>
      <p:pic>
        <p:nvPicPr>
          <p:cNvPr id="10" name="Picture 9" descr="WhatsApp Image 2026-02-14 at 22.50.3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2-20 at 10.19.4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48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PDF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PDF document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View, combine and edit PDFs for construction.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450 commits  ·  v1.47.3</a:t>
            </a:r>
          </a:p>
        </p:txBody>
      </p:sp>
      <p:pic>
        <p:nvPicPr>
          <p:cNvPr id="10" name="Picture 9" descr="WhatsApp Image 2026-02-25 at 19.04.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2-28 at 13.59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2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Monty IFC 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Lightweight IFC 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Web-based BIM viewer with Three.js.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45 commits  ·  v1.0.1</a:t>
            </a:r>
          </a:p>
        </p:txBody>
      </p:sp>
      <p:pic>
        <p:nvPicPr>
          <p:cNvPr id="10" name="Picture 9" descr="17685940378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2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Pointcloud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Point clouds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View and edit point clouds.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12 commits  ·  v0.3.0</a:t>
            </a:r>
          </a:p>
        </p:txBody>
      </p:sp>
      <p:pic>
        <p:nvPicPr>
          <p:cNvPr id="10" name="Picture 9" descr="WhatsApp Image 2026-02-26 at 16.10.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ALPHA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3D 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3D 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Universal 3D viewer in the browser.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7 commits  ·  v0.1.0-alpha</a:t>
            </a:r>
          </a:p>
        </p:txBody>
      </p:sp>
      <p:pic>
        <p:nvPicPr>
          <p:cNvPr id="10" name="Picture 9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3-03 at 23.03.0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Energy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Energy performance NTA 8800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Desktop app with Tauri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11 commits  ·  v2026.2.0</a:t>
            </a:r>
          </a:p>
        </p:txBody>
      </p:sp>
      <p:pic>
        <p:nvPicPr>
          <p:cNvPr id="10" name="Picture 9" descr="WhatsApp Image 2026-02-17 at 23.07.1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2-17 at 23.07.2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Planner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Project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Gantt charts with Tauri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10 commits  ·  v2026.2.0</a:t>
            </a:r>
          </a:p>
        </p:txBody>
      </p:sp>
      <p:pic>
        <p:nvPicPr>
          <p:cNvPr id="10" name="Picture 9" descr="WhatsApp Image 2026-02-12 at 20.56.1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520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352044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Frame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35204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2D structural frame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352044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For buildings and civil load-bearing structures.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35204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29 commits  ·  v0.2.0  ·  Rust</a:t>
            </a:r>
          </a:p>
        </p:txBody>
      </p:sp>
      <p:pic>
        <p:nvPicPr>
          <p:cNvPr id="10" name="Picture 9" descr="WhatsApp Image 2026-02-07 at 15.43.0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Structural Engineer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Structural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Tool for the structural engineer.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 commit</a:t>
            </a:r>
          </a:p>
        </p:txBody>
      </p:sp>
      <p:pic>
        <p:nvPicPr>
          <p:cNvPr id="10" name="Picture 9" descr="WhatsApp Image 2026-03-03 at 23.26.3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MPG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Environmental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MPG calculation for building permits.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2 commits</a:t>
            </a:r>
          </a:p>
        </p:txBody>
      </p:sp>
      <p:pic>
        <p:nvPicPr>
          <p:cNvPr id="10" name="Picture 9" descr="WhatsApp Image 2026-03-02 at 22.04.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3-02 at 22.04.2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Calc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Calculation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Cost estimation for buildings, civil &amp; infra.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6 commits  ·  v0.7.8</a:t>
            </a:r>
          </a:p>
        </p:txBody>
      </p:sp>
      <p:pic>
        <p:nvPicPr>
          <p:cNvPr id="10" name="Picture 9" descr="176986547820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176986547848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Heat loss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ISSO 51:2023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Rust calculation library.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21 commits  ·  Rust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520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352044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rPr sz="3200"/>
              <a:t>Open CAD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35204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Native DWG/DXF in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352044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Community project (Hakan Seven). 514 commits, v0.4.1, 28 stars.</a:t>
            </a:r>
          </a:p>
        </p:txBody>
      </p:sp>
      <p:pic>
        <p:nvPicPr>
          <p:cNvPr id="9" name="Picture 8" descr="open-cad-studi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98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Dynlex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C++ calculation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High-performance calculation tool.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98 commits  ·  C++</a:t>
            </a:r>
          </a:p>
        </p:txBody>
      </p:sp>
      <p:pic>
        <p:nvPicPr>
          <p:cNvPr id="10" name="Picture 9" descr="WhatsApp Image 2026-02-17 at 19.54.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Ifc-Calc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Graphical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Calculations linked to IFC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3 commits</a:t>
            </a:r>
          </a:p>
        </p:txBody>
      </p:sp>
      <p:pic>
        <p:nvPicPr>
          <p:cNvPr id="10" name="Picture 9" descr="WhatsApp Image 2026-02-17 at 19.58.0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520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108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352044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rPr/>
              <a:t>Open Geotechniek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35204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Sonderingen &amp; boringen (NL geotechniek)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352044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GEF + BRO-XML, Robertson SBT, Kadaster-overlays, .ifcgis.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35204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108 commits  ·  v0.2.9  ·  Rust + TS</a:t>
            </a:r>
          </a:p>
        </p:txBody>
      </p:sp>
      <p:pic>
        <p:nvPicPr>
          <p:cNvPr id="10" name="Picture 9" descr="WhatsApp Image 2026-02-12 at 21.34.4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Cutlist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Cut plan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1D and 2D materials.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JavaScript</a:t>
            </a:r>
          </a:p>
        </p:txBody>
      </p:sp>
      <p:pic>
        <p:nvPicPr>
          <p:cNvPr id="10" name="Picture 9" descr="176859403776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Bestekstool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Specifications writing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Specifications for construction projects.</a:t>
            </a:r>
          </a:p>
        </p:txBody>
      </p:sp>
      <p:pic>
        <p:nvPicPr>
          <p:cNvPr id="9" name="Picture 8" descr="WhatsApp Image 2026-02-13 at 09.31.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764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building.py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Python building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Export to Blender, Revit, IFC, DXF, Speckle.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v0.1-beta  ·  Python</a:t>
            </a:r>
          </a:p>
        </p:txBody>
      </p:sp>
      <p:pic>
        <p:nvPicPr>
          <p:cNvPr id="10" name="Picture 9" descr="176859403910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131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OpenAEC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Generate reports for construction projects.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Python</a:t>
            </a:r>
          </a:p>
        </p:txBody>
      </p:sp>
      <p:pic>
        <p:nvPicPr>
          <p:cNvPr id="10" name="Picture 9" descr="WhatsApp Image 2026-02-20 at 16.03.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2-21 at 15.21.4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109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Historical construction 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Digital collection. Knowledge preservation.</a:t>
            </a:r>
          </a:p>
        </p:txBody>
      </p:sp>
      <p:pic>
        <p:nvPicPr>
          <p:cNvPr id="9" name="Picture 8" descr="176859403759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WFC5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IFC5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Complete BIM model in one format.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TypeSpec</a:t>
            </a:r>
          </a:p>
        </p:txBody>
      </p:sp>
      <p:pic>
        <p:nvPicPr>
          <p:cNvPr id="10" name="Picture 9" descr="WhatsApp Image 2026-03-03 at 23.08.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3-03 at 23.22.2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152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Project Ocondat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Open building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WikiData linked to building information.</a:t>
            </a:r>
          </a:p>
        </p:txBody>
      </p:sp>
      <p:pic>
        <p:nvPicPr>
          <p:cNvPr id="9" name="Picture 8" descr="WhatsApp Image 2026-02-13 at 09.20.5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AI — 84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Multi-agent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AI agents in parallel via CLI.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TypeScript</a:t>
            </a:r>
          </a:p>
        </p:txBody>
      </p:sp>
      <p:pic>
        <p:nvPicPr>
          <p:cNvPr id="10" name="Picture 9" descr="WhatsApp Image 2026-03-03 at 13.33.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ERPNext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Electron desktop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Banking, invoicing, expense management.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16 commits</a:t>
            </a:r>
          </a:p>
        </p:txBody>
      </p:sp>
      <p:pic>
        <p:nvPicPr>
          <p:cNvPr id="10" name="Picture 9" descr="WhatsApp Image 2026-03-03 at 20.00.1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ERPNext Level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Alternative 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Departments, employees, AI bots.</a:t>
            </a:r>
          </a:p>
        </p:txBody>
      </p:sp>
      <p:pic>
        <p:nvPicPr>
          <p:cNvPr id="9" name="Picture 8" descr="176986547815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2560320" cy="5852160"/>
          </a:xfrm>
          <a:prstGeom prst="rect">
            <a:avLst/>
          </a:prstGeom>
        </p:spPr>
      </p:pic>
      <p:pic>
        <p:nvPicPr>
          <p:cNvPr id="10" name="Picture 9" descr="176986547837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02920"/>
            <a:ext cx="2560320" cy="5852160"/>
          </a:xfrm>
          <a:prstGeom prst="rect">
            <a:avLst/>
          </a:prstGeom>
        </p:spPr>
      </p:pic>
      <p:pic>
        <p:nvPicPr>
          <p:cNvPr id="11" name="Picture 10" descr="176986547866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502920"/>
            <a:ext cx="256032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Speech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Speech-to-text with local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Dictation, transcription and meeting recording. Powered by OpenAI Whisper. GPU acceleration.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77 commits  ·  v0.9.0  ·  Tauri 2 + Rust</a:t>
            </a:r>
          </a:p>
        </p:txBody>
      </p:sp>
      <p:pic>
        <p:nvPicPr>
          <p:cNvPr id="10" name="Picture 9" descr="Open Speech Studio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Field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Inspection and quality assurance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Construction site inspections. 15 NEN 2767 checklists. Energy label recording. Offline-capable.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v0.1.3  ·  Beta  ·  PWA</a:t>
            </a:r>
          </a:p>
        </p:txBody>
      </p:sp>
      <p:pic>
        <p:nvPicPr>
          <p:cNvPr id="10" name="Picture 9" descr="Open Field Studio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Heatloss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Heat loss calculation NEN 12831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Transmission and ventilation loss calculations. IFCX coupling. Dutch building regulations.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485 commits  ·  v0.1.1-alpha  ·  Rust + TS</a:t>
            </a:r>
          </a:p>
        </p:txBody>
      </p:sp>
      <p:pic>
        <p:nvPicPr>
          <p:cNvPr id="10" name="Picture 9" descr="Open Heatloss Studio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BIM Validator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IFC validation against 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Validate IFC models against IDS specifications. NL BIM Basis ILS. RVB BIM Norm. BCF export.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Three.js  ·  TypeScript</a:t>
            </a:r>
          </a:p>
        </p:txBody>
      </p:sp>
      <p:pic>
        <p:nvPicPr>
          <p:cNvPr id="10" name="Picture 9" descr="BIM Validator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OpenAEC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BIM document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Nextcloud-based document management. Version control. IFCX coupling. Full-text 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Nextcloud  ·  Docker  ·  PostgreSQL</a:t>
            </a:r>
          </a:p>
        </p:txBody>
      </p:sp>
      <p:pic>
        <p:nvPicPr>
          <p:cNvPr id="10" name="Picture 9" descr="OpenAEC Docs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