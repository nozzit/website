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4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jpg"/><Relationship Id="rId4" Type="http://schemas.openxmlformats.org/officeDocument/2006/relationships/image" Target="../media/image38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0" b="1">
                <a:solidFill>
                  <a:srgbClr val="FAFAF9"/>
                </a:solidFill>
                <a:latin typeface="Space Grotesk"/>
              </a:defRPr>
            </a:pPr>
            <a:r>
              <a:t>OpenAEC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108960"/>
            <a:ext cx="12191695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A1A1AA"/>
                </a:solidFill>
                <a:latin typeface="Space Grotesk"/>
              </a:defRPr>
            </a:pPr>
            <a:r>
              <a:t>Build free. Build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389120"/>
            <a:ext cx="1219169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52525B"/>
                </a:solidFill>
                <a:latin typeface="JetBrains Mono"/>
              </a:defRPr>
            </a:pPr>
            <a:r>
              <a:t>Mei 2026 update — Delft,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COMPANY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3BM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(Structural)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Architectural and engineering firm. The practice where it all started.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3bm.co.nl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COMPANY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Domera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Floating Home builders &amp; developers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Floating home builders and developers.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domera.nl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COMPANY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Impertio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Implementation &amp; deployment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From bare PC to AI workstation. Open source ecosystem deployment.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impertio.nl</a:t>
            </a:r>
          </a:p>
        </p:txBody>
      </p:sp>
      <p:pic>
        <p:nvPicPr>
          <p:cNvPr id="10" name="Picture 9" descr="impertio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11480"/>
            <a:ext cx="786384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OpenCompany246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Fully open source business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246 business processes covered with open source tools.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opencompany246.nl</a:t>
            </a:r>
          </a:p>
        </p:txBody>
      </p:sp>
      <p:pic>
        <p:nvPicPr>
          <p:cNvPr id="10" name="Picture 9" descr="opencompany246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11480"/>
            <a:ext cx="786384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01 —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3152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400" b="1">
                <a:solidFill>
                  <a:srgbClr val="FAFAF9"/>
                </a:solidFill>
                <a:latin typeface="Space Grotesk"/>
              </a:defRPr>
            </a:pPr>
            <a:r>
              <a:t>The problem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43200"/>
            <a:ext cx="2011680" cy="1097280"/>
          </a:xfrm>
          <a:prstGeom prst="roundRect">
            <a:avLst>
              <a:gd name="adj" fmla="val 5000"/>
            </a:avLst>
          </a:prstGeom>
          <a:solidFill>
            <a:srgbClr val="2D0A0A"/>
          </a:solidFill>
          <a:ln w="25400">
            <a:solidFill>
              <a:srgbClr val="7F1D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06324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AFAF9"/>
                </a:solidFill>
                <a:latin typeface="Space Grotesk"/>
              </a:defRPr>
            </a:pPr>
            <a:r>
              <a:t>$$$$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A1A1AA"/>
                </a:solidFill>
                <a:latin typeface="Inter"/>
              </a:defRPr>
            </a:pPr>
            <a:r>
              <a:t>License costs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743200"/>
            <a:ext cx="2011680" cy="1097280"/>
          </a:xfrm>
          <a:prstGeom prst="roundRect">
            <a:avLst>
              <a:gd name="adj" fmla="val 5000"/>
            </a:avLst>
          </a:prstGeom>
          <a:solidFill>
            <a:srgbClr val="2D0A0A"/>
          </a:solidFill>
          <a:ln w="25400">
            <a:solidFill>
              <a:srgbClr val="7F1D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306324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AFAF9"/>
                </a:solidFill>
                <a:latin typeface="Space Grotesk"/>
              </a:defRPr>
            </a:pPr>
            <a:r>
              <a:t>Closed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338328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A1A1AA"/>
                </a:solidFill>
                <a:latin typeface="Inter"/>
              </a:defRPr>
            </a:pPr>
            <a:r>
              <a:t>Vendor lock-in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0" y="2743200"/>
            <a:ext cx="2011680" cy="1097280"/>
          </a:xfrm>
          <a:prstGeom prst="roundRect">
            <a:avLst>
              <a:gd name="adj" fmla="val 5000"/>
            </a:avLst>
          </a:prstGeom>
          <a:solidFill>
            <a:srgbClr val="2D0A0A"/>
          </a:solidFill>
          <a:ln w="25400">
            <a:solidFill>
              <a:srgbClr val="7F1D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0" y="306324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AFAF9"/>
                </a:solidFill>
                <a:latin typeface="Space Grotesk"/>
              </a:defRPr>
            </a:pPr>
            <a:r>
              <a:t>Islands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338328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A1A1AA"/>
                </a:solidFill>
                <a:latin typeface="Inter"/>
              </a:defRPr>
            </a:pPr>
            <a:r>
              <a:t>Fragmentation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2743200"/>
            <a:ext cx="2011680" cy="1097280"/>
          </a:xfrm>
          <a:prstGeom prst="roundRect">
            <a:avLst>
              <a:gd name="adj" fmla="val 5000"/>
            </a:avLst>
          </a:prstGeom>
          <a:solidFill>
            <a:srgbClr val="2D0A0A"/>
          </a:solidFill>
          <a:ln w="25400">
            <a:solidFill>
              <a:srgbClr val="7F1D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0" y="306324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AFAF9"/>
                </a:solidFill>
                <a:latin typeface="Space Grotesk"/>
              </a:defRPr>
            </a:pPr>
            <a:r>
              <a:t>Vendor-driven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338328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A1A1AA"/>
                </a:solidFill>
                <a:latin typeface="Inter"/>
              </a:defRPr>
            </a:pPr>
            <a:r>
              <a:t>No innovation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75520" y="2743200"/>
            <a:ext cx="2011680" cy="1097280"/>
          </a:xfrm>
          <a:prstGeom prst="roundRect">
            <a:avLst>
              <a:gd name="adj" fmla="val 5000"/>
            </a:avLst>
          </a:prstGeom>
          <a:solidFill>
            <a:srgbClr val="2D0A0A"/>
          </a:solidFill>
          <a:ln w="25400">
            <a:solidFill>
              <a:srgbClr val="7F1D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306324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AFAF9"/>
                </a:solidFill>
                <a:latin typeface="Space Grotesk"/>
              </a:defRPr>
            </a:pPr>
            <a:r>
              <a:t>Not possible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338328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A1A1AA"/>
                </a:solidFill>
                <a:latin typeface="Inter"/>
              </a:defRPr>
            </a:pPr>
            <a:r>
              <a:t>AI integration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02 — 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400" b="1">
                <a:solidFill>
                  <a:srgbClr val="FAFAF9"/>
                </a:solidFill>
                <a:latin typeface="Space Grotesk"/>
              </a:defRPr>
            </a:pPr>
            <a:r>
              <a:t>The OpenAEC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D97706"/>
                </a:solidFill>
                <a:latin typeface="Inter"/>
              </a:defRPr>
            </a:pPr>
            <a:r>
              <a:t>Open source software for the entire construction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9144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D4D4D8"/>
                </a:solidFill>
                <a:latin typeface="Inter"/>
              </a:defRPr>
            </a:pPr>
            <a:r>
              <a:t>Founded March 1, 2026 — Dordrecht, NL — Inspired by the Blender Foundation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200400"/>
            <a:ext cx="5120640" cy="731520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200400"/>
            <a:ext cx="54864" cy="7315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91840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D97706"/>
                </a:solidFill>
                <a:latin typeface="Space Grotesk"/>
              </a:defRPr>
            </a:pPr>
            <a:r>
              <a:t>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Coordinate and fund open source software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3200400"/>
            <a:ext cx="5120640" cy="731520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3200400"/>
            <a:ext cx="54864" cy="7315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291840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D97706"/>
                </a:solidFill>
                <a:latin typeface="Space Grotesk"/>
              </a:defRPr>
            </a:pPr>
            <a:r>
              <a:t>Support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566160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Licenses, API connections and integrations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206240"/>
            <a:ext cx="5120640" cy="731520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206240"/>
            <a:ext cx="54864" cy="7315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297680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D97706"/>
                </a:solidFill>
                <a:latin typeface="Space Grotesk"/>
              </a:defRPr>
            </a:pPr>
            <a:r>
              <a:t>Education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572000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Internship and training opportunities worldwide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206240"/>
            <a:ext cx="5120640" cy="731520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4206240"/>
            <a:ext cx="54864" cy="7315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297680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D97706"/>
                </a:solidFill>
                <a:latin typeface="Space Grotesk"/>
              </a:defRPr>
            </a:pPr>
            <a:r>
              <a:t>Advocacy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72000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Promote open source and open standards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03 — ECOSYSTEM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FAFAF9"/>
                </a:solidFill>
                <a:latin typeface="Space Grotesk"/>
              </a:defRPr>
            </a:pPr>
            <a:r>
              <a:t>The open source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645920" cy="685800"/>
          </a:xfrm>
          <a:prstGeom prst="roundRect">
            <a:avLst>
              <a:gd name="adj" fmla="val 15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93392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2A2A32"/>
                </a:solidFill>
                <a:latin typeface="Space Grotesk"/>
              </a:defRPr>
            </a:pPr>
            <a:r>
              <a:t>Design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23160" y="1828800"/>
            <a:ext cx="7498080" cy="685800"/>
          </a:xfrm>
          <a:prstGeom prst="roundRect">
            <a:avLst>
              <a:gd name="adj" fmla="val 15000"/>
            </a:avLst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1993392"/>
            <a:ext cx="7132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AFAF9"/>
                </a:solidFill>
                <a:latin typeface="Inter"/>
              </a:defRPr>
            </a:pPr>
            <a:r>
              <a:t>Blender + Bonsai     FreeCAD     Open 2D Studio     building.py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97480"/>
            <a:ext cx="1645920" cy="685800"/>
          </a:xfrm>
          <a:prstGeom prst="roundRect">
            <a:avLst>
              <a:gd name="adj" fmla="val 15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862072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2A2A32"/>
                </a:solidFill>
                <a:latin typeface="Space Grotesk"/>
              </a:defRPr>
            </a:pPr>
            <a:r>
              <a:t>Collaboration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2697480"/>
            <a:ext cx="7498080" cy="685800"/>
          </a:xfrm>
          <a:prstGeom prst="roundRect">
            <a:avLst>
              <a:gd name="adj" fmla="val 15000"/>
            </a:avLst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2862072"/>
            <a:ext cx="7132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AFAF9"/>
                </a:solidFill>
                <a:latin typeface="Inter"/>
              </a:defRPr>
            </a:pPr>
            <a:r>
              <a:t>Nextcloud     OpenAEC Docs     IfcGit     Speckle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566160"/>
            <a:ext cx="1645920" cy="685800"/>
          </a:xfrm>
          <a:prstGeom prst="roundRect">
            <a:avLst>
              <a:gd name="adj" fmla="val 15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30752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2A2A32"/>
                </a:solidFill>
                <a:latin typeface="Space Grotesk"/>
              </a:defRPr>
            </a:pPr>
            <a:r>
              <a:t>Engineering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23160" y="3566160"/>
            <a:ext cx="7498080" cy="685800"/>
          </a:xfrm>
          <a:prstGeom prst="roundRect">
            <a:avLst>
              <a:gd name="adj" fmla="val 15000"/>
            </a:avLst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1760" y="3730752"/>
            <a:ext cx="7132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AFAF9"/>
                </a:solidFill>
                <a:latin typeface="Inter"/>
              </a:defRPr>
            </a:pPr>
            <a:r>
              <a:t>Energy Studio     Heatloss     Calc Studio     BIM Validator     FEM2D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34840"/>
            <a:ext cx="1645920" cy="685800"/>
          </a:xfrm>
          <a:prstGeom prst="roundRect">
            <a:avLst>
              <a:gd name="adj" fmla="val 15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599432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2A2A32"/>
                </a:solidFill>
                <a:latin typeface="Space Grotesk"/>
              </a:defRPr>
            </a:pPr>
            <a:r>
              <a:t>Business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23160" y="4434840"/>
            <a:ext cx="7498080" cy="685800"/>
          </a:xfrm>
          <a:prstGeom prst="roundRect">
            <a:avLst>
              <a:gd name="adj" fmla="val 15000"/>
            </a:avLst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51760" y="4599432"/>
            <a:ext cx="7132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AFAF9"/>
                </a:solidFill>
                <a:latin typeface="Inter"/>
              </a:defRPr>
            </a:pPr>
            <a:r>
              <a:t>ERPNext     Invoicing     HRM     Planning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303520"/>
            <a:ext cx="1645920" cy="685800"/>
          </a:xfrm>
          <a:prstGeom prst="roundRect">
            <a:avLst>
              <a:gd name="adj" fmla="val 1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468112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2A2A32"/>
                </a:solidFill>
                <a:latin typeface="Space Grotesk"/>
              </a:defRPr>
            </a:pPr>
            <a:r>
              <a:t>AI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23160" y="5303520"/>
            <a:ext cx="7498080" cy="685800"/>
          </a:xfrm>
          <a:prstGeom prst="roundRect">
            <a:avLst>
              <a:gd name="adj" fmla="val 15000"/>
            </a:avLst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51760" y="5468112"/>
            <a:ext cx="7132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AFAF9"/>
                </a:solidFill>
                <a:latin typeface="Inter"/>
              </a:defRPr>
            </a:pPr>
            <a:r>
              <a:t>Claude / LLM's     MCP Servers     Open Agents     Speech Studio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04 — PARTNERS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FAFAF9"/>
                </a:solidFill>
                <a:latin typeface="Space Grotesk"/>
              </a:defRPr>
            </a:pPr>
            <a:r>
              <a:t>OpenCompany246 &amp; Impertio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26080"/>
            <a:ext cx="3108960" cy="1280160"/>
          </a:xfrm>
          <a:prstGeom prst="roundRect">
            <a:avLst>
              <a:gd name="adj" fmla="val 5000"/>
            </a:avLst>
          </a:prstGeom>
          <a:solidFill>
            <a:srgbClr val="1A1406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063240"/>
            <a:ext cx="31089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A1A1AA"/>
                </a:solidFill>
                <a:latin typeface="JetBrains Mono"/>
              </a:defRPr>
            </a:pPr>
            <a:r>
              <a:t>What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AFAF9"/>
                </a:solidFill>
                <a:latin typeface="Space Grotesk"/>
              </a:defRPr>
            </a:pPr>
            <a:r>
              <a:t>OpenCompany246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A1A1AA"/>
                </a:solidFill>
                <a:latin typeface="Inter"/>
              </a:defRPr>
            </a:pPr>
            <a:r>
              <a:t>246 business processes covered with open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29184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D97706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926080"/>
            <a:ext cx="3108960" cy="1280160"/>
          </a:xfrm>
          <a:prstGeom prst="roundRect">
            <a:avLst>
              <a:gd name="adj" fmla="val 5000"/>
            </a:avLst>
          </a:prstGeom>
          <a:solidFill>
            <a:srgbClr val="1A1406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063240"/>
            <a:ext cx="31089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A1A1AA"/>
                </a:solidFill>
                <a:latin typeface="JetBrains Mono"/>
              </a:defRPr>
            </a:pPr>
            <a:r>
              <a:t>How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324612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AFAF9"/>
                </a:solidFill>
                <a:latin typeface="Space Grotesk"/>
              </a:defRPr>
            </a:pPr>
            <a:r>
              <a:t>Impertio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5661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A1A1AA"/>
                </a:solidFill>
                <a:latin typeface="Inter"/>
              </a:defRPr>
            </a:pPr>
            <a:r>
              <a:t>Implementation, deployment &amp; training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29184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D97706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926080"/>
            <a:ext cx="3108960" cy="1280160"/>
          </a:xfrm>
          <a:prstGeom prst="roundRect">
            <a:avLst>
              <a:gd name="adj" fmla="val 5000"/>
            </a:avLst>
          </a:prstGeom>
          <a:solidFill>
            <a:srgbClr val="1A1406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3063240"/>
            <a:ext cx="31089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A1A1AA"/>
                </a:solidFill>
                <a:latin typeface="JetBrains Mono"/>
              </a:defRPr>
            </a:pPr>
            <a:r>
              <a:t>Software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24612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AFAF9"/>
                </a:solidFill>
                <a:latin typeface="Space Grotesk"/>
              </a:defRPr>
            </a:pPr>
            <a:r>
              <a:t>OpenAEC Foundation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566160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A1A1AA"/>
                </a:solidFill>
                <a:latin typeface="Inter"/>
              </a:defRPr>
            </a:pPr>
            <a:r>
              <a:t>Development &amp; maintenance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05 — ERP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ERPNext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Open source ERP for construction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Project management · Invoicing &amp; accounting · HRM — NL payroll · Dashboard App · Level Dashboard</a:t>
            </a:r>
          </a:p>
        </p:txBody>
      </p:sp>
      <p:pic>
        <p:nvPicPr>
          <p:cNvPr id="9" name="Picture 8" descr="WhatsApp Image 2026-03-03 at 20.00.1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11480"/>
            <a:ext cx="786384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06 — BIM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FAFAF9"/>
                </a:solidFill>
                <a:latin typeface="Space Grotesk"/>
              </a:defRPr>
            </a:pPr>
            <a:r>
              <a:t>Blender &amp; Bonsai — Open BIM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43200"/>
            <a:ext cx="2377440" cy="1005840"/>
          </a:xfrm>
          <a:prstGeom prst="roundRect">
            <a:avLst>
              <a:gd name="adj" fmla="val 5000"/>
            </a:avLst>
          </a:prstGeom>
          <a:solidFill>
            <a:srgbClr val="1A1406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06324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AFAF9"/>
                </a:solidFill>
                <a:latin typeface="Space Grotesk"/>
              </a:defRPr>
            </a:pPr>
            <a:r>
              <a:t>Blender + Bonsai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A1A1AA"/>
                </a:solidFill>
                <a:latin typeface="Inter"/>
              </a:defRPr>
            </a:pPr>
            <a:r>
              <a:t>IFC authoring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2743200"/>
            <a:ext cx="2377440" cy="1005840"/>
          </a:xfrm>
          <a:prstGeom prst="roundRect">
            <a:avLst>
              <a:gd name="adj" fmla="val 5000"/>
            </a:avLst>
          </a:prstGeom>
          <a:solidFill>
            <a:srgbClr val="1A1406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306324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AFAF9"/>
                </a:solidFill>
                <a:latin typeface="Space Grotesk"/>
              </a:defRPr>
            </a:pPr>
            <a:r>
              <a:t>building.py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338328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A1A1AA"/>
                </a:solidFill>
                <a:latin typeface="Inter"/>
              </a:defRPr>
            </a:pPr>
            <a:r>
              <a:t>Code-based buildings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2743200"/>
            <a:ext cx="2377440" cy="1005840"/>
          </a:xfrm>
          <a:prstGeom prst="roundRect">
            <a:avLst>
              <a:gd name="adj" fmla="val 5000"/>
            </a:avLst>
          </a:prstGeom>
          <a:solidFill>
            <a:srgbClr val="1A1406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306324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AFAF9"/>
                </a:solidFill>
                <a:latin typeface="Space Grotesk"/>
              </a:defRPr>
            </a:pPr>
            <a:r>
              <a:t>Sverchok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338328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A1A1AA"/>
                </a:solidFill>
                <a:latin typeface="Inter"/>
              </a:defRPr>
            </a:pPr>
            <a:r>
              <a:t>Visual programming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2743200"/>
            <a:ext cx="2377440" cy="1005840"/>
          </a:xfrm>
          <a:prstGeom prst="roundRect">
            <a:avLst>
              <a:gd name="adj" fmla="val 5000"/>
            </a:avLst>
          </a:prstGeom>
          <a:solidFill>
            <a:srgbClr val="1A1406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306324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AFAF9"/>
                </a:solidFill>
                <a:latin typeface="Space Grotesk"/>
              </a:defRPr>
            </a:pPr>
            <a:r>
              <a:t>Claude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338328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A1A1AA"/>
                </a:solidFill>
                <a:latin typeface="Inter"/>
              </a:defRPr>
            </a:pPr>
            <a:r>
              <a:t>AI-assisted design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07 — COLLABORATION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400" b="1">
                <a:solidFill>
                  <a:srgbClr val="FAFAF9"/>
                </a:solidFill>
                <a:latin typeface="Space Grotesk"/>
              </a:defRPr>
            </a:pPr>
            <a:r>
              <a:t>Nextcloud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43200"/>
            <a:ext cx="2377440" cy="1005840"/>
          </a:xfrm>
          <a:prstGeom prst="roundRect">
            <a:avLst>
              <a:gd name="adj" fmla="val 5000"/>
            </a:avLst>
          </a:prstGeom>
          <a:solidFill>
            <a:srgbClr val="1A1406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06324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AFAF9"/>
                </a:solidFill>
                <a:latin typeface="Space Grotesk"/>
              </a:defRPr>
            </a:pPr>
            <a:r>
              <a:t>File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A1A1AA"/>
                </a:solidFill>
                <a:latin typeface="Inter"/>
              </a:defRPr>
            </a:pPr>
            <a:r>
              <a:t>Version control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2743200"/>
            <a:ext cx="2377440" cy="1005840"/>
          </a:xfrm>
          <a:prstGeom prst="roundRect">
            <a:avLst>
              <a:gd name="adj" fmla="val 5000"/>
            </a:avLst>
          </a:prstGeom>
          <a:solidFill>
            <a:srgbClr val="1A1406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306324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AFAF9"/>
                </a:solidFill>
                <a:latin typeface="Space Grotesk"/>
              </a:defRPr>
            </a:pPr>
            <a:r>
              <a:t>IfcGit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338328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A1A1AA"/>
                </a:solidFill>
                <a:latin typeface="Inter"/>
              </a:defRPr>
            </a:pPr>
            <a:r>
              <a:t>IFC versioning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2743200"/>
            <a:ext cx="2377440" cy="1005840"/>
          </a:xfrm>
          <a:prstGeom prst="roundRect">
            <a:avLst>
              <a:gd name="adj" fmla="val 5000"/>
            </a:avLst>
          </a:prstGeom>
          <a:solidFill>
            <a:srgbClr val="1A1406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306324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AFAF9"/>
                </a:solidFill>
                <a:latin typeface="Space Grotesk"/>
              </a:defRPr>
            </a:pPr>
            <a:r>
              <a:t>Check-in/out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338328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A1A1AA"/>
                </a:solidFill>
                <a:latin typeface="Inter"/>
              </a:defRPr>
            </a:pPr>
            <a:r>
              <a:t>Vault-like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2743200"/>
            <a:ext cx="2377440" cy="1005840"/>
          </a:xfrm>
          <a:prstGeom prst="roundRect">
            <a:avLst>
              <a:gd name="adj" fmla="val 5000"/>
            </a:avLst>
          </a:prstGeom>
          <a:solidFill>
            <a:srgbClr val="1A1406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306324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AFAF9"/>
                </a:solidFill>
                <a:latin typeface="Space Grotesk"/>
              </a:defRPr>
            </a:pPr>
            <a:r>
              <a:t>Claude Bot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338328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A1A1AA"/>
                </a:solidFill>
                <a:latin typeface="Inter"/>
              </a:defRPr>
            </a:pPr>
            <a:r>
              <a:t>AI in Talk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08 —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FAFAF9"/>
                </a:solidFill>
                <a:latin typeface="Space Grotesk"/>
              </a:defRPr>
            </a:pPr>
            <a:r>
              <a:t>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828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D97706"/>
                </a:solidFill>
                <a:latin typeface="Space Grotesk"/>
              </a:defRPr>
            </a:pPr>
            <a: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1A1AA"/>
                </a:solidFill>
                <a:latin typeface="Inter"/>
              </a:defRPr>
            </a:pPr>
            <a:r>
              <a:t>Repositories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1828800"/>
            <a:ext cx="1828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D97706"/>
                </a:solidFill>
                <a:latin typeface="Space Grotesk"/>
              </a:defRPr>
            </a:pPr>
            <a:r>
              <a:t>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37744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1A1AA"/>
                </a:solidFill>
                <a:latin typeface="Inter"/>
              </a:defRPr>
            </a:pPr>
            <a:r>
              <a:t>Public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828800"/>
            <a:ext cx="1828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D97706"/>
                </a:solidFill>
                <a:latin typeface="Space Grotesk"/>
              </a:defRPr>
            </a:pPr>
            <a:r>
              <a:t>416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37744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1A1AA"/>
                </a:solidFill>
                <a:latin typeface="Inter"/>
              </a:defRPr>
            </a:pPr>
            <a:r>
              <a:t>Stars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828800"/>
            <a:ext cx="1828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D97706"/>
                </a:solidFill>
                <a:latin typeface="Space Grotesk"/>
              </a:defRPr>
            </a:pPr>
            <a:r>
              <a:t>4228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37744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1A1AA"/>
                </a:solidFill>
                <a:latin typeface="Inter"/>
              </a:defRPr>
            </a:pPr>
            <a:r>
              <a:t>Total commits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1828800"/>
            <a:ext cx="1828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D97706"/>
                </a:solidFill>
                <a:latin typeface="Space Grotesk"/>
              </a:defRPr>
            </a:pPr>
            <a:r>
              <a:t>5807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37744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1A1AA"/>
                </a:solidFill>
                <a:latin typeface="Inter"/>
              </a:defRPr>
            </a:pPr>
            <a:r>
              <a:t>Total downloads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31520" y="3108960"/>
          <a:ext cx="5029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487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9E0B"/>
                          </a:solidFill>
                          <a:latin typeface="Inter"/>
                        </a:defRPr>
                      </a:pPr>
                      <a:r>
                        <a:t>Top releases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9E0B"/>
                          </a:solidFill>
                          <a:latin typeface="Inter"/>
                        </a:defRPr>
                      </a:pPr>
                      <a:r>
                        <a:t>Rel.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9E0B"/>
                          </a:solidFill>
                          <a:latin typeface="Inter"/>
                        </a:defRPr>
                      </a:pPr>
                      <a:r>
                        <a:t>Version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4D4D8"/>
                          </a:solidFill>
                          <a:latin typeface="Inter"/>
                        </a:defRPr>
                      </a:pPr>
                      <a:r>
                        <a:t>open-pdf-studio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Inter"/>
                        </a:defRPr>
                      </a:pPr>
                      <a:r>
                        <a:t>48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Inter"/>
                        </a:defRPr>
                      </a:pPr>
                      <a:r>
                        <a:t>v1.47.3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4D4D8"/>
                          </a:solidFill>
                          <a:latin typeface="Inter"/>
                        </a:defRPr>
                      </a:pPr>
                      <a:r>
                        <a:t>open-2d-studio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Inter"/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Inter"/>
                        </a:defRPr>
                      </a:pPr>
                      <a:r>
                        <a:t>v0.35.0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4D4D8"/>
                          </a:solidFill>
                          <a:latin typeface="Inter"/>
                        </a:defRPr>
                      </a:pPr>
                      <a:r>
                        <a:t>Open-Calculations-Studio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Inter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Inter"/>
                        </a:defRPr>
                      </a:pPr>
                      <a:r>
                        <a:t>v0.1.4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4D4D8"/>
                          </a:solidFill>
                          <a:latin typeface="Inter"/>
                        </a:defRPr>
                      </a:pPr>
                      <a:r>
                        <a:t>open-calc-studio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Inter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Inter"/>
                        </a:defRPr>
                      </a:pPr>
                      <a:r>
                        <a:t>v0.7.8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4D4D8"/>
                          </a:solidFill>
                          <a:latin typeface="Inter"/>
                        </a:defRPr>
                      </a:pPr>
                      <a:r>
                        <a:t>open-geotechniek-studio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Inter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Inter"/>
                        </a:defRPr>
                      </a:pPr>
                      <a:r>
                        <a:t>v0.2.9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217920" y="3108960"/>
          <a:ext cx="5029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487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9E0B"/>
                          </a:solidFill>
                          <a:latin typeface="Inter"/>
                        </a:defRPr>
                      </a:pPr>
                      <a:r>
                        <a:t>Top commits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9E0B"/>
                          </a:solidFill>
                          <a:latin typeface="Inter"/>
                        </a:defRPr>
                      </a:pPr>
                      <a:r>
                        <a:t>Commits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4D4D8"/>
                          </a:solidFill>
                          <a:latin typeface="Inter"/>
                        </a:defRPr>
                      </a:pPr>
                      <a:r>
                        <a:t>building-py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Inter"/>
                        </a:defRPr>
                      </a:pPr>
                      <a:r>
                        <a:t>764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4D4D8"/>
                          </a:solidFill>
                          <a:latin typeface="Inter"/>
                        </a:defRPr>
                      </a:pPr>
                      <a:r>
                        <a:t>open-heatloss-studio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Inter"/>
                        </a:defRPr>
                      </a:pPr>
                      <a:r>
                        <a:t>485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4D4D8"/>
                          </a:solidFill>
                          <a:latin typeface="Inter"/>
                        </a:defRPr>
                      </a:pPr>
                      <a:r>
                        <a:t>open-pdf-studio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Inter"/>
                        </a:defRPr>
                      </a:pPr>
                      <a:r>
                        <a:t>450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4D4D8"/>
                          </a:solidFill>
                          <a:latin typeface="Inter"/>
                        </a:defRPr>
                      </a:pPr>
                      <a:r>
                        <a:t>Open-Agents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Inter"/>
                        </a:defRPr>
                      </a:pPr>
                      <a:r>
                        <a:t>322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D4D4D8"/>
                          </a:solidFill>
                          <a:latin typeface="Inter"/>
                        </a:defRPr>
                      </a:pPr>
                      <a:r>
                        <a:t>openaec-reports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1A1AA"/>
                          </a:solidFill>
                          <a:latin typeface="Inter"/>
                        </a:defRPr>
                      </a:pPr>
                      <a:r>
                        <a:t>235</a:t>
                      </a:r>
                    </a:p>
                  </a:txBody>
                  <a:tcPr>
                    <a:solidFill>
                      <a:srgbClr val="2A2A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22 RELEASES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Open 2D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2D viewer and drawing environment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View, annotate and edit 2D drawings. Extension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90 commits  ·  v0.35.0  ·  TypeScript</a:t>
            </a:r>
          </a:p>
        </p:txBody>
      </p:sp>
      <p:pic>
        <p:nvPicPr>
          <p:cNvPr id="10" name="Picture 9" descr="WhatsApp Image 2026-02-19 at 20.03.4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11480"/>
            <a:ext cx="786384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EXTENSION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2D Studio AEC Extension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AEC functionality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Construction symbols, layers and annotations.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7 commits  ·  v0.1.0</a:t>
            </a:r>
          </a:p>
        </p:txBody>
      </p:sp>
      <p:pic>
        <p:nvPicPr>
          <p:cNvPr id="10" name="Picture 9" descr="WhatsApp Image 2026-02-14 at 22.50.3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502920"/>
            <a:ext cx="3840480" cy="5852160"/>
          </a:xfrm>
          <a:prstGeom prst="rect">
            <a:avLst/>
          </a:prstGeom>
        </p:spPr>
      </p:pic>
      <p:pic>
        <p:nvPicPr>
          <p:cNvPr id="11" name="Picture 10" descr="WhatsApp Image 2026-02-20 at 10.19.47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502920"/>
            <a:ext cx="384048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48 RELEASES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Open PDF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PDF document workflows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View, combine and edit PDFs for construction.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450 commits  ·  v1.47.3</a:t>
            </a:r>
          </a:p>
        </p:txBody>
      </p:sp>
      <p:pic>
        <p:nvPicPr>
          <p:cNvPr id="10" name="Picture 9" descr="WhatsApp Image 2026-02-25 at 19.04.2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502920"/>
            <a:ext cx="3840480" cy="5852160"/>
          </a:xfrm>
          <a:prstGeom prst="rect">
            <a:avLst/>
          </a:prstGeom>
        </p:spPr>
      </p:pic>
      <p:pic>
        <p:nvPicPr>
          <p:cNvPr id="11" name="Picture 10" descr="WhatsApp Image 2026-02-28 at 13.59.56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502920"/>
            <a:ext cx="384048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2 RELEASES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Monty IFC Viewer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Lightweight IFC viewer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Web-based BIM viewer with Three.js.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45 commits  ·  v1.0.1</a:t>
            </a:r>
          </a:p>
        </p:txBody>
      </p:sp>
      <p:pic>
        <p:nvPicPr>
          <p:cNvPr id="10" name="Picture 9" descr="176859403781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11480"/>
            <a:ext cx="786384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2 RELEASES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Open Pointcloud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Point clouds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View and edit point clouds.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12 commits  ·  v0.3.0</a:t>
            </a:r>
          </a:p>
        </p:txBody>
      </p:sp>
      <p:pic>
        <p:nvPicPr>
          <p:cNvPr id="10" name="Picture 9" descr="WhatsApp Image 2026-02-26 at 16.10.1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11480"/>
            <a:ext cx="786384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ALPHA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Open 3D Viewer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3D viewer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Universal 3D viewer in the browser.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7 commits  ·  v0.1.0-alpha</a:t>
            </a:r>
          </a:p>
        </p:txBody>
      </p:sp>
      <p:pic>
        <p:nvPicPr>
          <p:cNvPr id="10" name="Picture 9" descr="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502920"/>
            <a:ext cx="3840480" cy="5852160"/>
          </a:xfrm>
          <a:prstGeom prst="rect">
            <a:avLst/>
          </a:prstGeom>
        </p:spPr>
      </p:pic>
      <p:pic>
        <p:nvPicPr>
          <p:cNvPr id="11" name="Picture 10" descr="WhatsApp Image 2026-03-03 at 23.03.0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502920"/>
            <a:ext cx="384048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1 RELEASE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Open Energy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Energy performance NTA 8800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Desktop app with Tauri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11 commits  ·  v2026.2.0</a:t>
            </a:r>
          </a:p>
        </p:txBody>
      </p:sp>
      <p:pic>
        <p:nvPicPr>
          <p:cNvPr id="10" name="Picture 9" descr="WhatsApp Image 2026-02-17 at 23.07.1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502920"/>
            <a:ext cx="3840480" cy="5852160"/>
          </a:xfrm>
          <a:prstGeom prst="rect">
            <a:avLst/>
          </a:prstGeom>
        </p:spPr>
      </p:pic>
      <p:pic>
        <p:nvPicPr>
          <p:cNvPr id="11" name="Picture 10" descr="WhatsApp Image 2026-02-17 at 23.07.29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502920"/>
            <a:ext cx="384048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1 RELEASE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Open Planner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Project planning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Gantt charts with Tauri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10 commits  ·  v2026.2.0</a:t>
            </a:r>
          </a:p>
        </p:txBody>
      </p:sp>
      <p:pic>
        <p:nvPicPr>
          <p:cNvPr id="10" name="Picture 9" descr="WhatsApp Image 2026-02-12 at 20.56.1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11480"/>
            <a:ext cx="786384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52044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TOOL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35204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Open Frame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3520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2D structural frame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35204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For buildings and civil load-bearing structures.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3520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29 commits  ·  v0.2.0  ·  Rust</a:t>
            </a:r>
          </a:p>
        </p:txBody>
      </p:sp>
      <p:pic>
        <p:nvPicPr>
          <p:cNvPr id="10" name="Picture 9" descr="WhatsApp Image 2026-02-07 at 15.43.0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11480"/>
            <a:ext cx="786384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Structural Engineer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Structural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Tool for the structural engineer.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1 commit</a:t>
            </a:r>
          </a:p>
        </p:txBody>
      </p:sp>
      <p:pic>
        <p:nvPicPr>
          <p:cNvPr id="10" name="Picture 9" descr="WhatsApp Image 2026-03-03 at 23.26.3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11480"/>
            <a:ext cx="786384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Open MPG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Environmental performance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MPG calculation for building permits.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2 commits</a:t>
            </a:r>
          </a:p>
        </p:txBody>
      </p:sp>
      <p:pic>
        <p:nvPicPr>
          <p:cNvPr id="10" name="Picture 9" descr="WhatsApp Image 2026-03-02 at 22.04.2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502920"/>
            <a:ext cx="3840480" cy="5852160"/>
          </a:xfrm>
          <a:prstGeom prst="rect">
            <a:avLst/>
          </a:prstGeom>
        </p:spPr>
      </p:pic>
      <p:pic>
        <p:nvPicPr>
          <p:cNvPr id="11" name="Picture 10" descr="WhatsApp Image 2026-03-02 at 22.04.27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502920"/>
            <a:ext cx="384048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Open Calc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Calculation 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Cost estimation for buildings, civil &amp; infra.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6 commits  ·  v0.7.8</a:t>
            </a:r>
          </a:p>
        </p:txBody>
      </p:sp>
      <p:pic>
        <p:nvPicPr>
          <p:cNvPr id="10" name="Picture 9" descr="176986547820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502920"/>
            <a:ext cx="3840480" cy="5852160"/>
          </a:xfrm>
          <a:prstGeom prst="rect">
            <a:avLst/>
          </a:prstGeom>
        </p:spPr>
      </p:pic>
      <p:pic>
        <p:nvPicPr>
          <p:cNvPr id="11" name="Picture 10" descr="176986547848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502920"/>
            <a:ext cx="384048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Heat loss 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ISSO 51:2023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Rust calculation library.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21 commits  ·  Rust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52044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35204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rPr sz="3200"/>
              <a:t>Open CAD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3520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Native DWG/DXF in Rust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35204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Community project (Hakan Seven). 514 commits, v0.4.1, 28 stars.</a:t>
            </a:r>
          </a:p>
        </p:txBody>
      </p:sp>
      <p:pic>
        <p:nvPicPr>
          <p:cNvPr id="9" name="Picture 8" descr="open-cad-studi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411480"/>
            <a:ext cx="786384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98 COMMITS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Dynlex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C++ calculation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High-performance calculation tool.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98 commits  ·  C++</a:t>
            </a:r>
          </a:p>
        </p:txBody>
      </p:sp>
      <p:pic>
        <p:nvPicPr>
          <p:cNvPr id="10" name="Picture 9" descr="WhatsApp Image 2026-02-17 at 19.54.5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11480"/>
            <a:ext cx="786384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TOOL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Ifc-Calc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Graphical calculator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Calculations linked to IFC models.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3 commits</a:t>
            </a:r>
          </a:p>
        </p:txBody>
      </p:sp>
      <p:pic>
        <p:nvPicPr>
          <p:cNvPr id="10" name="Picture 9" descr="WhatsApp Image 2026-02-17 at 19.58.0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11480"/>
            <a:ext cx="786384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52044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108 COMMITS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35204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rPr/>
              <a:t>Open Geotechniek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3520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Sonderingen &amp; boringen (NL geotechniek)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35204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GEF + BRO-XML, Robertson SBT, Kadaster-overlays, .ifcgis.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3520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108 commits  ·  v0.2.9  ·  Rust + TS</a:t>
            </a:r>
          </a:p>
        </p:txBody>
      </p:sp>
      <p:pic>
        <p:nvPicPr>
          <p:cNvPr id="10" name="Picture 9" descr="WhatsApp Image 2026-02-12 at 21.34.4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11480"/>
            <a:ext cx="786384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TOOL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Cutlist Optimizer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Cut plan optimization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1D and 2D materials.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JavaScript</a:t>
            </a:r>
          </a:p>
        </p:txBody>
      </p:sp>
      <p:pic>
        <p:nvPicPr>
          <p:cNvPr id="10" name="Picture 9" descr="176859403776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11480"/>
            <a:ext cx="786384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Bestekstool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Specifications writing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Specifications for construction projects.</a:t>
            </a:r>
          </a:p>
        </p:txBody>
      </p:sp>
      <p:pic>
        <p:nvPicPr>
          <p:cNvPr id="9" name="Picture 8" descr="WhatsApp Image 2026-02-13 at 09.31.0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11480"/>
            <a:ext cx="786384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764 COMMITS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building.py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Python building modeling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Export to Blender, Revit, IFC, DXF, Speckle.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v0.1-beta  ·  Python</a:t>
            </a:r>
          </a:p>
        </p:txBody>
      </p:sp>
      <p:pic>
        <p:nvPicPr>
          <p:cNvPr id="10" name="Picture 9" descr="176859403910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11480"/>
            <a:ext cx="786384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131 COMMITS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OpenAEC Reports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Reporting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Generate reports for construction projects.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Python</a:t>
            </a:r>
          </a:p>
        </p:txBody>
      </p:sp>
      <p:pic>
        <p:nvPicPr>
          <p:cNvPr id="10" name="Picture 9" descr="WhatsApp Image 2026-02-20 at 16.03.1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502920"/>
            <a:ext cx="3840480" cy="5852160"/>
          </a:xfrm>
          <a:prstGeom prst="rect">
            <a:avLst/>
          </a:prstGeom>
        </p:spPr>
      </p:pic>
      <p:pic>
        <p:nvPicPr>
          <p:cNvPr id="11" name="Picture 10" descr="WhatsApp Image 2026-02-21 at 15.21.46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502920"/>
            <a:ext cx="384048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109 COMMITS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Open Books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Historical construction books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Digital collection. Knowledge preservation.</a:t>
            </a:r>
          </a:p>
        </p:txBody>
      </p:sp>
      <p:pic>
        <p:nvPicPr>
          <p:cNvPr id="9" name="Picture 8" descr="176859403759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11480"/>
            <a:ext cx="786384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EXPERIMENT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WFC5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IFC5 extension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Complete BIM model in one format.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TypeSpec</a:t>
            </a:r>
          </a:p>
        </p:txBody>
      </p:sp>
      <p:pic>
        <p:nvPicPr>
          <p:cNvPr id="10" name="Picture 9" descr="WhatsApp Image 2026-03-03 at 23.08.1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502920"/>
            <a:ext cx="3840480" cy="5852160"/>
          </a:xfrm>
          <a:prstGeom prst="rect">
            <a:avLst/>
          </a:prstGeom>
        </p:spPr>
      </p:pic>
      <p:pic>
        <p:nvPicPr>
          <p:cNvPr id="11" name="Picture 10" descr="WhatsApp Image 2026-03-03 at 23.22.26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502920"/>
            <a:ext cx="384048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152 COMMITS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Project Ocondat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Open building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WikiData linked to building information.</a:t>
            </a:r>
          </a:p>
        </p:txBody>
      </p:sp>
      <p:pic>
        <p:nvPicPr>
          <p:cNvPr id="9" name="Picture 8" descr="WhatsApp Image 2026-02-13 at 09.20.5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11480"/>
            <a:ext cx="786384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AI — 84 COMMITS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Open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Multi-agent orchestrator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AI agents in parallel via CLI.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TypeScript</a:t>
            </a:r>
          </a:p>
        </p:txBody>
      </p:sp>
      <p:pic>
        <p:nvPicPr>
          <p:cNvPr id="10" name="Picture 9" descr="WhatsApp Image 2026-03-03 at 13.33.0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11480"/>
            <a:ext cx="786384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ERP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ERPNext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Electron desktop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Banking, invoicing, expense management.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16 commits</a:t>
            </a:r>
          </a:p>
        </p:txBody>
      </p:sp>
      <p:pic>
        <p:nvPicPr>
          <p:cNvPr id="10" name="Picture 9" descr="WhatsApp Image 2026-03-03 at 20.00.1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11480"/>
            <a:ext cx="786384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ERP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ERPNext Level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Alternative GUI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Departments, employees, AI bots.</a:t>
            </a:r>
          </a:p>
        </p:txBody>
      </p:sp>
      <p:pic>
        <p:nvPicPr>
          <p:cNvPr id="9" name="Picture 8" descr="176986547815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502920"/>
            <a:ext cx="2560320" cy="5852160"/>
          </a:xfrm>
          <a:prstGeom prst="rect">
            <a:avLst/>
          </a:prstGeom>
        </p:spPr>
      </p:pic>
      <p:pic>
        <p:nvPicPr>
          <p:cNvPr id="10" name="Picture 9" descr="1769865478378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502920"/>
            <a:ext cx="2560320" cy="5852160"/>
          </a:xfrm>
          <a:prstGeom prst="rect">
            <a:avLst/>
          </a:prstGeom>
        </p:spPr>
      </p:pic>
      <p:pic>
        <p:nvPicPr>
          <p:cNvPr id="11" name="Picture 10" descr="1769865478664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502920"/>
            <a:ext cx="256032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Open Speech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Speech-to-text with local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Dictation, transcription and meeting recording. Powered by OpenAI Whisper. GPU acceleration.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77 commits  ·  v0.9.0  ·  Tauri 2 + Rust</a:t>
            </a:r>
          </a:p>
        </p:txBody>
      </p:sp>
      <p:pic>
        <p:nvPicPr>
          <p:cNvPr id="10" name="Picture 9" descr="Open Speech Studio screensho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11480"/>
            <a:ext cx="786384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Open Field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Inspection and quality assurance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Construction site inspections. 15 NEN 2767 checklists. Energy label recording. Offline-capable.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v0.1.3  ·  Beta  ·  PWA</a:t>
            </a:r>
          </a:p>
        </p:txBody>
      </p:sp>
      <p:pic>
        <p:nvPicPr>
          <p:cNvPr id="10" name="Picture 9" descr="Open Field Studio screensho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11480"/>
            <a:ext cx="786384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Open Heatloss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Heat loss calculation NEN 12831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Transmission and ventilation loss calculations. IFCX coupling. Dutch building regulations.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485 commits  ·  v0.1.1-alpha  ·  Rust + TS</a:t>
            </a:r>
          </a:p>
        </p:txBody>
      </p:sp>
      <p:pic>
        <p:nvPicPr>
          <p:cNvPr id="10" name="Picture 9" descr="Open Heatloss Studio screensho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11480"/>
            <a:ext cx="786384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BIM Validator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IFC validation against IDS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Validate IFC models against IDS specifications. NL BIM Basis ILS. RVB BIM Norm. BCF export.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Three.js  ·  TypeScript</a:t>
            </a:r>
          </a:p>
        </p:txBody>
      </p:sp>
      <p:pic>
        <p:nvPicPr>
          <p:cNvPr id="10" name="Picture 9" descr="BIM Validator screensho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11480"/>
            <a:ext cx="786384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3716" cy="6858000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AFAF9"/>
                </a:solidFill>
                <a:latin typeface="Space Grotesk"/>
              </a:defRPr>
            </a:pPr>
            <a:r>
              <a:t>OpenAEC Docs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926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D97706"/>
                </a:solidFill>
                <a:latin typeface="Space Grotesk"/>
              </a:defRPr>
            </a:pPr>
            <a:r>
              <a:t>BIM document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1A1AA"/>
                </a:solidFill>
                <a:latin typeface="Inter"/>
              </a:defRPr>
            </a:pPr>
            <a:r>
              <a:t>Nextcloud-based document management. Version control. IFCX coupling. Full-text search.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A1A1AA"/>
                </a:solidFill>
                <a:latin typeface="JetBrains Mono"/>
              </a:defRPr>
            </a:pPr>
            <a:r>
              <a:t>Nextcloud  ·  Docker  ·  PostgreSQL</a:t>
            </a:r>
          </a:p>
        </p:txBody>
      </p:sp>
      <p:pic>
        <p:nvPicPr>
          <p:cNvPr id="10" name="Picture 9" descr="OpenAEC Docs screensho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11480"/>
            <a:ext cx="786384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97706"/>
                </a:solidFill>
                <a:latin typeface="Consolas"/>
              </a:rPr>
              <a:t>09  -  PRICING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AFAF9"/>
                </a:solidFill>
                <a:latin typeface="Calibri"/>
              </a:rPr>
              <a:t>Pricing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A1A1AA"/>
                </a:solidFill>
                <a:latin typeface="Inter"/>
              </a:rPr>
              <a:t>Software is en blijft 100% open source. Wij rekenen alleen voor diensten rondom de tools.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" y="2606040"/>
            <a:ext cx="3657600" cy="3383280"/>
          </a:xfrm>
          <a:prstGeom prst="roundRect">
            <a:avLst>
              <a:gd name="adj" fmla="val 5000"/>
            </a:avLst>
          </a:prstGeom>
          <a:solidFill>
            <a:srgbClr val="32323A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" y="28803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97706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" y="320040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AFAF9"/>
                </a:solidFill>
                <a:latin typeface="Calibri"/>
              </a:rPr>
              <a:t>SLA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" y="3886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59E0B"/>
                </a:solidFill>
                <a:latin typeface="Inter"/>
              </a:rPr>
              <a:t>Service Level Agreement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" y="4297680"/>
            <a:ext cx="31089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A1A1AA"/>
                </a:solidFill>
                <a:latin typeface="Inter"/>
              </a:rPr>
              <a:t>- NL-business-hours support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A1A1AA"/>
                </a:solidFill>
                <a:latin typeface="Inter"/>
              </a:rPr>
              <a:t>- 4u-respons op P1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A1A1AA"/>
                </a:solidFill>
                <a:latin typeface="Inter"/>
              </a:rPr>
              <a:t>- Volgende-werkdag op P2-P3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A1A1AA"/>
                </a:solidFill>
                <a:latin typeface="Inter"/>
              </a:rPr>
              <a:t>- On-site training &amp; onboarding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A1A1AA"/>
                </a:solidFill>
                <a:latin typeface="Inter"/>
              </a:rPr>
              <a:t>- Vaste support-engineer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5676" y="2606040"/>
            <a:ext cx="3657600" cy="3383280"/>
          </a:xfrm>
          <a:prstGeom prst="roundRect">
            <a:avLst>
              <a:gd name="adj" fmla="val 5000"/>
            </a:avLst>
          </a:prstGeom>
          <a:solidFill>
            <a:srgbClr val="32323A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9996" y="28803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97706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9996" y="320040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AFAF9"/>
                </a:solidFill>
                <a:latin typeface="Calibri"/>
              </a:rPr>
              <a:t>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9996" y="3886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59E0B"/>
                </a:solidFill>
                <a:latin typeface="Inter"/>
              </a:rPr>
              <a:t>Intelligente automatisering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9996" y="4297680"/>
            <a:ext cx="31089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A1A1AA"/>
                </a:solidFill>
                <a:latin typeface="Inter"/>
              </a:rPr>
              <a:t>- Claude / GPT-credits inbegrepen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A1A1AA"/>
                </a:solidFill>
                <a:latin typeface="Inter"/>
              </a:rPr>
              <a:t>- MCP-servers per tool aangesloten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A1A1AA"/>
                </a:solidFill>
                <a:latin typeface="Inter"/>
              </a:rPr>
              <a:t>- Copilots in de UI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A1A1AA"/>
                </a:solidFill>
                <a:latin typeface="Inter"/>
              </a:rPr>
              <a:t>- Whisper-transcriptie (cloud + GPU)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A1A1AA"/>
                </a:solidFill>
                <a:latin typeface="Inter"/>
              </a:rPr>
              <a:t>- Bring-your-own-model toegestaan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7596" y="2606040"/>
            <a:ext cx="3657600" cy="3383280"/>
          </a:xfrm>
          <a:prstGeom prst="roundRect">
            <a:avLst>
              <a:gd name="adj" fmla="val 5000"/>
            </a:avLst>
          </a:prstGeom>
          <a:solidFill>
            <a:srgbClr val="32323A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1916" y="28803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97706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1916" y="320040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AFAF9"/>
                </a:solidFill>
                <a:latin typeface="Calibri"/>
              </a:rPr>
              <a:t>Hosting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1916" y="3886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59E0B"/>
                </a:solidFill>
                <a:latin typeface="Inter"/>
              </a:rPr>
              <a:t>Managed cloud-infrastructuur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1916" y="4297680"/>
            <a:ext cx="31089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A1A1AA"/>
                </a:solidFill>
                <a:latin typeface="Inter"/>
              </a:rPr>
              <a:t>- EU-datacenter (NL/DE)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A1A1AA"/>
                </a:solidFill>
                <a:latin typeface="Inter"/>
              </a:rPr>
              <a:t>- Daily backups + 30 dagen retentie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A1A1AA"/>
                </a:solidFill>
                <a:latin typeface="Inter"/>
              </a:rPr>
              <a:t>- Auto-updates &amp; security-patching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A1A1AA"/>
                </a:solidFill>
                <a:latin typeface="Inter"/>
              </a:rPr>
              <a:t>- 99,5% uptime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A1A1AA"/>
                </a:solidFill>
                <a:latin typeface="Inter"/>
              </a:rPr>
              <a:t>- Dedicated optie voor enterprise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636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1A1AA"/>
                </a:solidFill>
                <a:latin typeface="Inter"/>
              </a:rPr>
              <a:t>Alle prijzen vanaf-tarieven. Mix &amp; match per tool, schaalt mee met je organisatie.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97706"/>
                </a:solidFill>
                <a:latin typeface="Consolas"/>
              </a:rPr>
              <a:t>09  -  PRICING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AFAF9"/>
                </a:solidFill>
                <a:latin typeface="Calibri"/>
              </a:rPr>
              <a:t>Per-tool maandprijs (EUR)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1A1AA"/>
                </a:solidFill>
                <a:latin typeface="Inter"/>
              </a:rPr>
              <a:t>Per gebruiker per maand. Tools gemarkeerd met * worden per organisatie afgerekend.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423160"/>
            <a:ext cx="10725912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AFAF9"/>
                </a:solidFill>
                <a:latin typeface="Calibri"/>
              </a:rPr>
              <a:t>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25146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AFAF9"/>
                </a:solidFill>
                <a:latin typeface="Calibri"/>
              </a:rPr>
              <a:t>SLA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5146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AFAF9"/>
                </a:solidFill>
                <a:latin typeface="Calibri"/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25146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AFAF9"/>
                </a:solidFill>
                <a:latin typeface="Calibri"/>
              </a:rPr>
              <a:t>Hosting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880360"/>
            <a:ext cx="10725912" cy="365760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AFAF9"/>
                </a:solidFill>
                <a:latin typeface="Calibri"/>
              </a:rPr>
              <a:t>Open PDF Studio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29443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29443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29443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10127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AFAF9"/>
                </a:solidFill>
                <a:latin typeface="Calibri"/>
              </a:rPr>
              <a:t>Open Calc Studio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3310127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310127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3310127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611880"/>
            <a:ext cx="10725912" cy="365760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67588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AFAF9"/>
                </a:solidFill>
                <a:latin typeface="Calibri"/>
              </a:rPr>
              <a:t>Open CAD 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36758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6758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6758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04164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AFAF9"/>
                </a:solidFill>
                <a:latin typeface="Calibri"/>
              </a:rPr>
              <a:t>Open Speech Studio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40416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0416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40416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-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4343400"/>
            <a:ext cx="10725912" cy="365760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40740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AFAF9"/>
                </a:solidFill>
                <a:latin typeface="Calibri"/>
              </a:rPr>
              <a:t>OpenAEC Docs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20" y="44074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49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4074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44074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99 *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77316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AFAF9"/>
                </a:solidFill>
                <a:latin typeface="Calibri"/>
              </a:rPr>
              <a:t>OpenAEC Cloud Platform *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60720" y="47731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199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0" y="47731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99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47731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299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074920"/>
            <a:ext cx="10725912" cy="365760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13892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AFAF9"/>
                </a:solidFill>
                <a:latin typeface="Calibri"/>
              </a:rPr>
              <a:t>ERP-Next + Y-App *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0720" y="51389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99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80960" y="51389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51389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199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550468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AFAF9"/>
                </a:solidFill>
                <a:latin typeface="Calibri"/>
              </a:rPr>
              <a:t>Open Pointcloud Studio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60720" y="55046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80960" y="55046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25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0" y="55046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39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" y="5806440"/>
            <a:ext cx="10725912" cy="365760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587044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AFAF9"/>
                </a:solidFill>
                <a:latin typeface="Calibri"/>
              </a:rPr>
              <a:t>BCF Manager Studio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720" y="58704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80960" y="58704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0" y="58704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Consolas"/>
              </a:rPr>
              <a:t>15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1520" y="6400800"/>
            <a:ext cx="10725912" cy="54864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05840" y="6528816"/>
            <a:ext cx="101772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2A2A32"/>
                </a:solidFill>
                <a:latin typeface="Calibri"/>
              </a:rPr>
              <a:t>Volledig pakket - alle tools + SLA + AI + Hosting:  vanaf EUR 299 per gebruiker per maand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