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FAFAF9"/>
                </a:solidFill>
                <a:latin typeface="Space Grotesk"/>
              </a:defRPr>
            </a:pPr>
            <a:r>
              <a:t>OpenAEC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A1A1AA"/>
                </a:solidFill>
                <a:latin typeface="Space Grotesk"/>
              </a:defRPr>
            </a:pPr>
            <a:r>
              <a:t>Build free. Build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2525B"/>
                </a:solidFill>
                <a:latin typeface="JetBrains Mono"/>
              </a:defRPr>
            </a:pPr>
            <a:r>
              <a:t>Computational Design Day — Delft,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3BM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(Structural)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Architectural and engineering firm. The practice where it all started.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3bm.co.nl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Domera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Floating Home builders &amp;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Floating home builders and developers.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domera.nl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Impertio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Implementation &amp;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From bare PC to AI workstation. Open source ecosystem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impertio.nl</a:t>
            </a:r>
          </a:p>
        </p:txBody>
      </p:sp>
      <p:pic>
        <p:nvPicPr>
          <p:cNvPr id="10" name="Picture 9" descr="impertio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OpenCompany246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Fully open source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246 business processes covered with open source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opencompany246.nl</a:t>
            </a:r>
          </a:p>
        </p:txBody>
      </p:sp>
      <p:pic>
        <p:nvPicPr>
          <p:cNvPr id="10" name="Picture 9" descr="opencompany246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01 —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$$$$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License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Closed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Vendor lock-in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Islands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Fragmentation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Vendor-driven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No innovation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Not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02 —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The OpenAEC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97706"/>
                </a:solidFill>
                <a:latin typeface="Inter"/>
              </a:defRPr>
            </a:pPr>
            <a:r>
              <a:t>Open source software for the entire construction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4D4D8"/>
                </a:solidFill>
                <a:latin typeface="Inter"/>
              </a:defRPr>
            </a:pPr>
            <a:r>
              <a:t>Founded March 1, 2026 — Dordrecht, NL — Inspired by the Blender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Coordinate and fund open source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Licenses, API connections and integrations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Internship and training opportunities worldwide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Advocacy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Promote open source and open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03 —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The open source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82880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99339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Blender + Bonsai     FreeCAD     Open 2D Studio     building.py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Collaboration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69748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86207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Nextcloud     IfcGit     Speckle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56616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73075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FEM2D     Energy Studio     MPG Studio     Warmteverlies     Dynlex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Business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43484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459943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ERPNext     Invoicing     HRM    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6811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530352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546811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Claude / LLM's     MCP Servers     Open Agents     Claude 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04 —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OpenCompany246 &amp; Impertio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OpenCompany246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246 business processes covered with 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91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D9770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Impertio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Implementation, deployment &amp;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D9770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OpenAEC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Development &amp;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05 —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Open source ERP for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Project management · Invoicing &amp; accounting · HRM — NL payroll · Dashboard App · Level Dashboard</a:t>
            </a:r>
          </a:p>
        </p:txBody>
      </p:sp>
      <p:pic>
        <p:nvPicPr>
          <p:cNvPr id="9" name="Picture 8" descr="WhatsApp Image 2026-03-03 at 20.00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06 — BIM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Blender &amp; Bonsai — Open BIM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Blender + Bonsai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IFC authoring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building.py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Code-based buildings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Sverchok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Visual programming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Claude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AI-assisted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07 —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Nextcloud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File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Version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IfcGit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IFC versioning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Check-in/out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Vault-like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Claude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 in Talk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08 —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764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Commits (building.py)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Repos in 3 months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10896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Top releases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Rel.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open-pdf-studio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v1.23.0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open-2d-studio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v0.32.0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monty-ifc-viewer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v1.0.1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open-pointcloud-studio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v0.3.0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open-energy-studio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v2026.2.0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310896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Top commits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Commits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building-py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764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project-ocondat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openaec-reports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open-books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dynlex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2D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2D viewer and drawing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View, annotate and edit 2D drawings. Extension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66 commits  ·  v0.32.0  ·  TypeScript</a:t>
            </a:r>
          </a:p>
        </p:txBody>
      </p:sp>
      <p:pic>
        <p:nvPicPr>
          <p:cNvPr id="10" name="Picture 9" descr="WhatsApp Image 2026-02-19 at 20.03.4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2D Studio AEC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AEC functionality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Construction symbols, layers and annotations.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7 commits  ·  v0.1.0</a:t>
            </a:r>
          </a:p>
        </p:txBody>
      </p:sp>
      <p:pic>
        <p:nvPicPr>
          <p:cNvPr id="10" name="Picture 9" descr="WhatsApp Image 2026-02-14 at 22.50.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0 at 10.19.4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24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PDF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PDF document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View, combine and edit PDFs for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90 commits  ·  v1.23.0</a:t>
            </a:r>
          </a:p>
        </p:txBody>
      </p:sp>
      <p:pic>
        <p:nvPicPr>
          <p:cNvPr id="10" name="Picture 9" descr="WhatsApp Image 2026-02-25 at 19.04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8 at 13.59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Monty IFC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Lightweight IFC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Web-based BIM viewer with Three.js.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11 commits  ·  v1.0.1</a:t>
            </a:r>
          </a:p>
        </p:txBody>
      </p:sp>
      <p:pic>
        <p:nvPicPr>
          <p:cNvPr id="10" name="Picture 9" descr="17685940378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Pointcloud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Point clouds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 and edit point clouds.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12 commits  ·  v0.3.0</a:t>
            </a:r>
          </a:p>
        </p:txBody>
      </p:sp>
      <p:pic>
        <p:nvPicPr>
          <p:cNvPr id="10" name="Picture 9" descr="WhatsApp Image 2026-02-26 at 16.10.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3D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3D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Universal 3D viewer in the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7 commits  ·  v0.1.0-alpha</a:t>
            </a:r>
          </a:p>
        </p:txBody>
      </p:sp>
      <p:pic>
        <p:nvPicPr>
          <p:cNvPr id="10" name="Picture 9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3 at 23.03.0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Energy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Energy performance NTA 8800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Desktop app with Tauri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11 commits  ·  v2026.2.0</a:t>
            </a:r>
          </a:p>
        </p:txBody>
      </p:sp>
      <p:pic>
        <p:nvPicPr>
          <p:cNvPr id="10" name="Picture 9" descr="WhatsApp Image 2026-02-17 at 23.07.1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17 at 23.07.2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Planner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Project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Gantt charts with Tauri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10 commits  ·  v2026.2.0</a:t>
            </a:r>
          </a:p>
        </p:txBody>
      </p:sp>
      <p:pic>
        <p:nvPicPr>
          <p:cNvPr id="10" name="Picture 9" descr="WhatsApp Image 2026-02-12 at 20.56.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FEM2D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Finite Element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2D structural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13 commits  ·  TypeScript</a:t>
            </a:r>
          </a:p>
        </p:txBody>
      </p:sp>
      <p:pic>
        <p:nvPicPr>
          <p:cNvPr id="10" name="Picture 9" descr="WhatsApp Image 2026-02-07 at 15.43.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Structural Engineer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Structural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Tool for the structural engineer.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 commit</a:t>
            </a:r>
          </a:p>
        </p:txBody>
      </p:sp>
      <p:pic>
        <p:nvPicPr>
          <p:cNvPr id="10" name="Picture 9" descr="WhatsApp Image 2026-03-03 at 23.26.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MPG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Environmental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MPG calculation for building permits.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 commits</a:t>
            </a:r>
          </a:p>
        </p:txBody>
      </p:sp>
      <p:pic>
        <p:nvPicPr>
          <p:cNvPr id="10" name="Picture 9" descr="WhatsApp Image 2026-03-02 at 22.04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2 at 22.04.2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Calc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Calculation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Calculation tool for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New project</a:t>
            </a:r>
          </a:p>
        </p:txBody>
      </p:sp>
      <p:pic>
        <p:nvPicPr>
          <p:cNvPr id="10" name="Picture 9" descr="17698654782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176986547848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Heat loss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ISSO 51:2023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Rust calculation library.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21 commits  ·  Rust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U-value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U-value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Wall, roof and floor constructions.</a:t>
            </a:r>
          </a:p>
        </p:txBody>
      </p:sp>
      <p:pic>
        <p:nvPicPr>
          <p:cNvPr id="9" name="Picture 8" descr="17685940372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98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Dynlex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C++ calculation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High-performance calculation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98 commits  ·  C++</a:t>
            </a:r>
          </a:p>
        </p:txBody>
      </p:sp>
      <p:pic>
        <p:nvPicPr>
          <p:cNvPr id="10" name="Picture 9" descr="WhatsApp Image 2026-02-17 at 19.54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Ifc-Calc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Graphical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Calculations linked to IFC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 commits</a:t>
            </a:r>
          </a:p>
        </p:txBody>
      </p:sp>
      <p:pic>
        <p:nvPicPr>
          <p:cNvPr id="10" name="Picture 9" descr="WhatsApp Image 2026-02-17 at 19.58.0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CPT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Geotechnical soundings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GEF and BRO-xml viewer.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JavaScript</a:t>
            </a:r>
          </a:p>
        </p:txBody>
      </p:sp>
      <p:pic>
        <p:nvPicPr>
          <p:cNvPr id="10" name="Picture 9" descr="WhatsApp Image 2026-02-12 at 21.34.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Cutlist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Cut plan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1D and 2D materials.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JavaScript</a:t>
            </a:r>
          </a:p>
        </p:txBody>
      </p:sp>
      <p:pic>
        <p:nvPicPr>
          <p:cNvPr id="10" name="Picture 9" descr="176859403776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Bestekstool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Specifications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Specifications for construction projects.</a:t>
            </a:r>
          </a:p>
        </p:txBody>
      </p:sp>
      <p:pic>
        <p:nvPicPr>
          <p:cNvPr id="9" name="Picture 8" descr="WhatsApp Image 2026-02-13 at 09.31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764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building.py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Python building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Export to Blender, Revit, IFC, DXF, Speckle.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v0.1-beta  ·  Python</a:t>
            </a:r>
          </a:p>
        </p:txBody>
      </p:sp>
      <p:pic>
        <p:nvPicPr>
          <p:cNvPr id="10" name="Picture 9" descr="17685940391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131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OpenAEC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Generate reports for construction projects.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Python</a:t>
            </a:r>
          </a:p>
        </p:txBody>
      </p:sp>
      <p:pic>
        <p:nvPicPr>
          <p:cNvPr id="10" name="Picture 9" descr="WhatsApp Image 2026-02-20 at 16.03.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1 at 15.21.4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109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Historical construction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Digital collection. Knowledge preservation.</a:t>
            </a:r>
          </a:p>
        </p:txBody>
      </p:sp>
      <p:pic>
        <p:nvPicPr>
          <p:cNvPr id="9" name="Picture 8" descr="176859403759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WFC5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IFC5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Complete BIM model in one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TypeSpec</a:t>
            </a:r>
          </a:p>
        </p:txBody>
      </p:sp>
      <p:pic>
        <p:nvPicPr>
          <p:cNvPr id="10" name="Picture 9" descr="WhatsApp Image 2026-03-03 at 23.08.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3 at 23.22.2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152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Project Ocondat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Open building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WikiData linked to building information.</a:t>
            </a:r>
          </a:p>
        </p:txBody>
      </p:sp>
      <p:pic>
        <p:nvPicPr>
          <p:cNvPr id="9" name="Picture 8" descr="WhatsApp Image 2026-02-13 at 09.20.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AI — 84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Multi-agent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AI agents in parallel via CLI.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TypeScript</a:t>
            </a:r>
          </a:p>
        </p:txBody>
      </p:sp>
      <p:pic>
        <p:nvPicPr>
          <p:cNvPr id="10" name="Picture 9" descr="WhatsApp Image 2026-03-03 at 13.33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Electron desktop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Banking, invoicing, expense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16 commits</a:t>
            </a:r>
          </a:p>
        </p:txBody>
      </p:sp>
      <p:pic>
        <p:nvPicPr>
          <p:cNvPr id="10" name="Picture 9" descr="WhatsApp Image 2026-03-03 at 20.00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 Level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Alternative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Departments, employees, AI bots.</a:t>
            </a:r>
          </a:p>
        </p:txBody>
      </p:sp>
      <p:pic>
        <p:nvPicPr>
          <p:cNvPr id="9" name="Picture 8" descr="17698654781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2560320" cy="5852160"/>
          </a:xfrm>
          <a:prstGeom prst="rect">
            <a:avLst/>
          </a:prstGeom>
        </p:spPr>
      </p:pic>
      <p:pic>
        <p:nvPicPr>
          <p:cNvPr id="10" name="Picture 9" descr="176986547837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02920"/>
            <a:ext cx="2560320" cy="5852160"/>
          </a:xfrm>
          <a:prstGeom prst="rect">
            <a:avLst/>
          </a:prstGeom>
        </p:spPr>
      </p:pic>
      <p:pic>
        <p:nvPicPr>
          <p:cNvPr id="11" name="Picture 10" descr="176986547866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502920"/>
            <a:ext cx="2560320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